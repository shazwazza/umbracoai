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74" r:id="rId3"/>
    <p:sldId id="279" r:id="rId4"/>
    <p:sldId id="263" r:id="rId5"/>
    <p:sldId id="267" r:id="rId6"/>
    <p:sldId id="268" r:id="rId7"/>
    <p:sldId id="269" r:id="rId8"/>
    <p:sldId id="270" r:id="rId9"/>
    <p:sldId id="271" r:id="rId10"/>
    <p:sldId id="318" r:id="rId11"/>
    <p:sldId id="276" r:id="rId12"/>
    <p:sldId id="277" r:id="rId13"/>
    <p:sldId id="278" r:id="rId14"/>
    <p:sldId id="313" r:id="rId15"/>
    <p:sldId id="275" r:id="rId16"/>
    <p:sldId id="375" r:id="rId17"/>
    <p:sldId id="376" r:id="rId18"/>
    <p:sldId id="280" r:id="rId19"/>
    <p:sldId id="272" r:id="rId20"/>
    <p:sldId id="281" r:id="rId21"/>
    <p:sldId id="384" r:id="rId22"/>
    <p:sldId id="374" r:id="rId23"/>
    <p:sldId id="377" r:id="rId24"/>
    <p:sldId id="380" r:id="rId25"/>
    <p:sldId id="381" r:id="rId26"/>
    <p:sldId id="382" r:id="rId27"/>
    <p:sldId id="387" r:id="rId28"/>
    <p:sldId id="388" r:id="rId29"/>
    <p:sldId id="386" r:id="rId30"/>
    <p:sldId id="379" r:id="rId31"/>
    <p:sldId id="385" r:id="rId32"/>
    <p:sldId id="378" r:id="rId33"/>
  </p:sldIdLst>
  <p:sldSz cx="9144000" cy="5143500" type="screen16x9"/>
  <p:notesSz cx="6858000" cy="9144000"/>
  <p:embeddedFontLst>
    <p:embeddedFont>
      <p:font typeface="Helvetica Neue" panose="020B0604020202020204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7FA66EA-27D9-4523-A030-E16CF79511A5}">
          <p14:sldIdLst>
            <p14:sldId id="256"/>
            <p14:sldId id="274"/>
            <p14:sldId id="279"/>
            <p14:sldId id="263"/>
            <p14:sldId id="267"/>
            <p14:sldId id="268"/>
            <p14:sldId id="269"/>
            <p14:sldId id="270"/>
            <p14:sldId id="271"/>
            <p14:sldId id="318"/>
            <p14:sldId id="276"/>
            <p14:sldId id="277"/>
            <p14:sldId id="278"/>
            <p14:sldId id="313"/>
            <p14:sldId id="275"/>
            <p14:sldId id="375"/>
            <p14:sldId id="376"/>
            <p14:sldId id="280"/>
            <p14:sldId id="272"/>
            <p14:sldId id="281"/>
            <p14:sldId id="384"/>
            <p14:sldId id="374"/>
            <p14:sldId id="377"/>
            <p14:sldId id="380"/>
            <p14:sldId id="381"/>
            <p14:sldId id="382"/>
            <p14:sldId id="387"/>
            <p14:sldId id="388"/>
            <p14:sldId id="386"/>
            <p14:sldId id="379"/>
            <p14:sldId id="385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5020" autoAdjust="0"/>
  </p:normalViewPr>
  <p:slideViewPr>
    <p:cSldViewPr snapToGrid="0">
      <p:cViewPr varScale="1">
        <p:scale>
          <a:sx n="127" d="100"/>
          <a:sy n="127" d="100"/>
        </p:scale>
        <p:origin x="108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ff5f663e6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0" name="Google Shape;80;g1ff5f663e6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DC10B09-AE08-8607-0E55-C15D4C60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e7b8731bb_0_251:notes">
            <a:extLst>
              <a:ext uri="{FF2B5EF4-FFF2-40B4-BE49-F238E27FC236}">
                <a16:creationId xmlns:a16="http://schemas.microsoft.com/office/drawing/2014/main" id="{934945BE-4E1E-BB99-BC2E-AC1BFCB36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92" name="Google Shape;92;g2ce7b8731bb_0_251:notes">
            <a:extLst>
              <a:ext uri="{FF2B5EF4-FFF2-40B4-BE49-F238E27FC236}">
                <a16:creationId xmlns:a16="http://schemas.microsoft.com/office/drawing/2014/main" id="{223F064F-65B0-11A3-5880-D024574348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0830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9C7A5E2-CBE2-7A92-95C8-45071DE0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e7b8731bb_0_251:notes">
            <a:extLst>
              <a:ext uri="{FF2B5EF4-FFF2-40B4-BE49-F238E27FC236}">
                <a16:creationId xmlns:a16="http://schemas.microsoft.com/office/drawing/2014/main" id="{6392FB76-556D-1775-986C-11753E7CA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92" name="Google Shape;92;g2ce7b8731bb_0_251:notes">
            <a:extLst>
              <a:ext uri="{FF2B5EF4-FFF2-40B4-BE49-F238E27FC236}">
                <a16:creationId xmlns:a16="http://schemas.microsoft.com/office/drawing/2014/main" id="{FC8219A4-EC15-EDCE-D648-AC4F7231D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Start the workflow, will launch playwright, the agent has been instructed to create a blog engine with posts regarding what it learned along the way while creating the engine.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67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b52616ab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124" name="Google Shape;124;g33eb52616ab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D2EE7B8-5B07-3096-B8F5-C0AEBC12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F7E6B32D-7844-3A88-1B15-2DD73E662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C8B039E6-CE66-8B2E-8B57-DF3C40FD4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70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BAF30E9-A92B-2929-A5F3-74958132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EE0175AB-4151-C959-7085-940047E77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2046E8B6-625C-D1AE-CE93-6AD0EC6E1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578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098E084-5141-C36B-347C-EC3F0EA3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0858984E-F4F6-3FF1-5767-D0DDA8741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8837AE47-B92F-A4BF-6212-41FC5D3C9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556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4D50E72-F2EE-7C92-D268-9B31A22F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1434DA3C-B54E-86DB-BE2A-419CE88FA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DE4C5627-1656-4EAE-EE96-69C93E189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4266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FFEE103-080F-BF85-884B-B40D7168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FCD96CF5-CAB2-52F5-5779-2F266EA09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FD83F90A-D6EB-23C1-A5CA-8956ED542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285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4BA6E-B75B-407D-B3BC-1649A923650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369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0B83D15-22C1-7572-47A8-BFF5FF49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EC07BC54-479B-BB01-E847-2C8B0AAF0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92672324-DF49-AB2E-0002-CA098A568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982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C2CAC8E-B3EE-8580-7BF8-9929A09C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F12F2A4D-9325-AA9C-12AA-7478DDB4C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73A10252-4106-CDCD-A133-031834012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768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770DEBD-F1D7-2DE6-409A-E29DB19B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8E9E3B5C-8931-ACAC-3F86-A252CC105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2842F9EB-289F-75DA-2E11-DB07FB576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688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4BA6E-B75B-407D-B3BC-1649A923650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826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87BF6DE-77F4-76B4-0FB6-0A8BB926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A018495F-2BD1-9A03-36E8-90092A3F27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D22DE43F-6497-70FF-F8A3-2A734AF11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453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AFC929C-4D4B-40B8-B963-05315B00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0F10A904-7C4B-A17B-856F-B93C3D27A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E53DBC5D-6192-FAB4-AC27-037174A2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211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F819-9FFC-7D71-5342-02041410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55E54-59CE-9995-5E9D-E31CD1F14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7EDFD-5857-1385-A94A-53F1844CE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0AA6-074C-B721-4478-F8C8F2240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4BA6E-B75B-407D-B3BC-1649A923650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24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4458213-92D6-1AE5-3C75-312603FA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9002E83B-542C-1219-8D8B-A53F24A7F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6B09DDFC-2E1F-6010-0400-57D94CAF8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621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6D93BAB-7CA0-D6DB-0440-5F69E872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7395329F-286D-92DE-9FF2-810457B31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66730A1C-ECA8-1534-969E-F00DBBE1E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392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100" i="1" dirty="0" err="1"/>
              <a:t>Rosinen</a:t>
            </a:r>
            <a:r>
              <a:rPr lang="en-US" sz="1100" i="1" dirty="0"/>
              <a:t> </a:t>
            </a:r>
            <a:r>
              <a:rPr lang="en-US" sz="1100" i="1" dirty="0" err="1"/>
              <a:t>i</a:t>
            </a:r>
            <a:r>
              <a:rPr lang="en-US" sz="1100" i="1" dirty="0"/>
              <a:t> </a:t>
            </a:r>
            <a:r>
              <a:rPr lang="en-US" sz="1100" i="1" dirty="0" err="1"/>
              <a:t>pølseenden</a:t>
            </a:r>
            <a:endParaRPr lang="en-US" sz="1100" dirty="0"/>
          </a:p>
          <a:p>
            <a:pPr algn="l"/>
            <a:r>
              <a:rPr lang="en-US" sz="1100" dirty="0"/>
              <a:t>Save the best for last, or the highlight of something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4BA6E-B75B-407D-B3BC-1649A923650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806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B65A3B9-73DA-0F60-C45D-32AE5413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BE67078C-963E-DAF4-6326-10FD6F739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3E45ED40-3C38-9EC2-8D93-4A2361B30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821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0042399-512D-818E-B7C1-E00F5584F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000ABA80-CC71-9BBA-04A6-98BBAF327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809A3C6D-5795-E401-A588-3EF241550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394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4E21520-686F-6CA4-518A-1E96A694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7C20A0AA-A14B-A738-58F4-05C857E9E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78F2DC2A-F5B0-E70E-4D44-36C4FB0EB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9145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39FA320-C8CB-8E28-0FA8-F4B076AD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BAD26C25-BB41-A568-DBAA-BF7128C4B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D59F1243-1206-92BA-5F38-3DD6661DF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0711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6CA8ED7-10F0-0D74-9723-03344FF3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214A4C47-3B0A-5F53-0138-72D99C14F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331F5E40-4769-5CC4-E614-FEE3A000E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80161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592F44B-691F-F017-737D-427E5AED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6920D63D-BBB0-6FD7-C48B-832E3F492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D3A6BCA1-8CCA-8A94-8FA4-87F5FF833A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91684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B331AE3-66B2-FBC5-A824-95A63A25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A1213F71-D688-02CC-9B33-B90D5541C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ABA5D3F0-DB0B-F4B4-0B0D-55BFA487A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47263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0E0A74E-E5FD-FA54-F65D-AAEDFD0C0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b52616ab_0_86:notes">
            <a:extLst>
              <a:ext uri="{FF2B5EF4-FFF2-40B4-BE49-F238E27FC236}">
                <a16:creationId xmlns:a16="http://schemas.microsoft.com/office/drawing/2014/main" id="{BDB04C9C-6A2E-ADAB-9A25-8B7B80CC3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86" name="Google Shape;86;g33eb52616ab_0_86:notes">
            <a:extLst>
              <a:ext uri="{FF2B5EF4-FFF2-40B4-BE49-F238E27FC236}">
                <a16:creationId xmlns:a16="http://schemas.microsoft.com/office/drawing/2014/main" id="{F1F64ABF-9226-8762-D3AC-3F7A34587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483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C5D2E69D-B908-EBC0-11CF-C69A7940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e7b8731bb_0_341:notes">
            <a:extLst>
              <a:ext uri="{FF2B5EF4-FFF2-40B4-BE49-F238E27FC236}">
                <a16:creationId xmlns:a16="http://schemas.microsoft.com/office/drawing/2014/main" id="{CB3395AC-0C70-79E1-B8A2-AF091FDBE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149" name="Google Shape;149;g2ce7b8731bb_0_341:notes">
            <a:extLst>
              <a:ext uri="{FF2B5EF4-FFF2-40B4-BE49-F238E27FC236}">
                <a16:creationId xmlns:a16="http://schemas.microsoft.com/office/drawing/2014/main" id="{33227140-2B36-D5A5-E26F-07A70EED7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14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980432" y="4290160"/>
            <a:ext cx="1082649" cy="779189"/>
          </a:xfrm>
          <a:custGeom>
            <a:avLst/>
            <a:gdLst/>
            <a:ahLst/>
            <a:cxnLst/>
            <a:rect l="l" t="t" r="r" b="b"/>
            <a:pathLst>
              <a:path w="21373" h="21374" extrusionOk="0">
                <a:moveTo>
                  <a:pt x="922" y="21374"/>
                </a:moveTo>
                <a:lnTo>
                  <a:pt x="17830" y="21374"/>
                </a:lnTo>
                <a:cubicBezTo>
                  <a:pt x="19786" y="21374"/>
                  <a:pt x="21373" y="19170"/>
                  <a:pt x="21373" y="16451"/>
                </a:cubicBezTo>
                <a:lnTo>
                  <a:pt x="21373" y="8413"/>
                </a:lnTo>
                <a:cubicBezTo>
                  <a:pt x="21373" y="6208"/>
                  <a:pt x="20318" y="4271"/>
                  <a:pt x="18790" y="3674"/>
                </a:cubicBezTo>
                <a:lnTo>
                  <a:pt x="9647" y="97"/>
                </a:lnTo>
                <a:cubicBezTo>
                  <a:pt x="8820" y="-226"/>
                  <a:pt x="7942" y="276"/>
                  <a:pt x="7519" y="1315"/>
                </a:cubicBezTo>
                <a:lnTo>
                  <a:pt x="121" y="19463"/>
                </a:lnTo>
                <a:cubicBezTo>
                  <a:pt x="-227" y="20316"/>
                  <a:pt x="217" y="21374"/>
                  <a:pt x="922" y="21374"/>
                </a:cubicBezTo>
              </a:path>
            </a:pathLst>
          </a:custGeom>
          <a:solidFill>
            <a:schemeClr val="dk1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532220" y="3257938"/>
            <a:ext cx="539730" cy="1042052"/>
          </a:xfrm>
          <a:custGeom>
            <a:avLst/>
            <a:gdLst/>
            <a:ahLst/>
            <a:cxnLst/>
            <a:rect l="l" t="t" r="r" b="b"/>
            <a:pathLst>
              <a:path w="20841" h="20930" extrusionOk="0">
                <a:moveTo>
                  <a:pt x="20841" y="18845"/>
                </a:moveTo>
                <a:lnTo>
                  <a:pt x="20841" y="976"/>
                </a:lnTo>
                <a:cubicBezTo>
                  <a:pt x="20841" y="-25"/>
                  <a:pt x="18286" y="-375"/>
                  <a:pt x="17338" y="496"/>
                </a:cubicBezTo>
                <a:lnTo>
                  <a:pt x="522" y="15940"/>
                </a:lnTo>
                <a:cubicBezTo>
                  <a:pt x="-759" y="17116"/>
                  <a:pt x="420" y="18606"/>
                  <a:pt x="2922" y="18972"/>
                </a:cubicBezTo>
                <a:lnTo>
                  <a:pt x="15750" y="20851"/>
                </a:lnTo>
                <a:cubicBezTo>
                  <a:pt x="18305" y="21225"/>
                  <a:pt x="20841" y="20226"/>
                  <a:pt x="20841" y="18845"/>
                </a:cubicBezTo>
              </a:path>
            </a:pathLst>
          </a:custGeom>
          <a:solidFill>
            <a:schemeClr val="lt2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9875" y="75650"/>
            <a:ext cx="8987922" cy="49921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761"/>
                </a:moveTo>
                <a:cubicBezTo>
                  <a:pt x="21600" y="341"/>
                  <a:pt x="21411" y="0"/>
                  <a:pt x="21177" y="0"/>
                </a:cubicBezTo>
                <a:lnTo>
                  <a:pt x="12244" y="0"/>
                </a:lnTo>
                <a:lnTo>
                  <a:pt x="11223" y="0"/>
                </a:lnTo>
                <a:lnTo>
                  <a:pt x="423" y="0"/>
                </a:lnTo>
                <a:cubicBezTo>
                  <a:pt x="189" y="0"/>
                  <a:pt x="0" y="341"/>
                  <a:pt x="0" y="761"/>
                </a:cubicBezTo>
                <a:lnTo>
                  <a:pt x="0" y="20839"/>
                </a:lnTo>
                <a:cubicBezTo>
                  <a:pt x="0" y="21259"/>
                  <a:pt x="189" y="21600"/>
                  <a:pt x="423" y="21600"/>
                </a:cubicBezTo>
                <a:lnTo>
                  <a:pt x="11223" y="21600"/>
                </a:lnTo>
                <a:lnTo>
                  <a:pt x="12244" y="21600"/>
                </a:lnTo>
                <a:lnTo>
                  <a:pt x="18275" y="21600"/>
                </a:lnTo>
                <a:cubicBezTo>
                  <a:pt x="18428" y="21600"/>
                  <a:pt x="18568" y="21452"/>
                  <a:pt x="18643" y="21214"/>
                </a:cubicBezTo>
                <a:lnTo>
                  <a:pt x="21545" y="11999"/>
                </a:lnTo>
                <a:cubicBezTo>
                  <a:pt x="21581" y="11885"/>
                  <a:pt x="21600" y="11756"/>
                  <a:pt x="21600" y="11624"/>
                </a:cubicBezTo>
                <a:lnTo>
                  <a:pt x="21600" y="3445"/>
                </a:lnTo>
                <a:lnTo>
                  <a:pt x="21599" y="3444"/>
                </a:lnTo>
                <a:lnTo>
                  <a:pt x="21600" y="3442"/>
                </a:lnTo>
                <a:lnTo>
                  <a:pt x="21600" y="761"/>
                </a:lnTo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314025"/>
            <a:ext cx="1325814" cy="39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11700" y="3257950"/>
            <a:ext cx="8520600" cy="8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311700" y="4146558"/>
            <a:ext cx="8520600" cy="5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6">
          <p15:clr>
            <a:srgbClr val="E46962"/>
          </p15:clr>
        </p15:guide>
        <p15:guide id="2" orient="horz" pos="198">
          <p15:clr>
            <a:srgbClr val="E46962"/>
          </p15:clr>
        </p15:guide>
        <p15:guide id="3" pos="556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79608" y="80114"/>
            <a:ext cx="1023055" cy="758579"/>
          </a:xfrm>
          <a:custGeom>
            <a:avLst/>
            <a:gdLst/>
            <a:ahLst/>
            <a:cxnLst/>
            <a:rect l="l" t="t" r="r" b="b"/>
            <a:pathLst>
              <a:path w="21538" h="21549" extrusionOk="0">
                <a:moveTo>
                  <a:pt x="14416" y="20222"/>
                </a:moveTo>
                <a:lnTo>
                  <a:pt x="21363" y="3632"/>
                </a:lnTo>
                <a:cubicBezTo>
                  <a:pt x="21600" y="2939"/>
                  <a:pt x="21596" y="2140"/>
                  <a:pt x="21353" y="1451"/>
                </a:cubicBezTo>
                <a:cubicBezTo>
                  <a:pt x="21077" y="669"/>
                  <a:pt x="20530" y="124"/>
                  <a:pt x="19894" y="0"/>
                </a:cubicBezTo>
                <a:lnTo>
                  <a:pt x="3192" y="117"/>
                </a:lnTo>
                <a:cubicBezTo>
                  <a:pt x="2424" y="197"/>
                  <a:pt x="1697" y="621"/>
                  <a:pt x="1128" y="1322"/>
                </a:cubicBezTo>
                <a:cubicBezTo>
                  <a:pt x="463" y="2139"/>
                  <a:pt x="59" y="3272"/>
                  <a:pt x="0" y="4483"/>
                </a:cubicBezTo>
                <a:lnTo>
                  <a:pt x="55" y="12972"/>
                </a:lnTo>
                <a:cubicBezTo>
                  <a:pt x="48" y="13925"/>
                  <a:pt x="233" y="14863"/>
                  <a:pt x="591" y="15685"/>
                </a:cubicBezTo>
                <a:cubicBezTo>
                  <a:pt x="1059" y="16758"/>
                  <a:pt x="1791" y="17575"/>
                  <a:pt x="2661" y="17991"/>
                </a:cubicBezTo>
                <a:lnTo>
                  <a:pt x="12008" y="21415"/>
                </a:lnTo>
                <a:cubicBezTo>
                  <a:pt x="12436" y="21600"/>
                  <a:pt x="12897" y="21594"/>
                  <a:pt x="13322" y="21397"/>
                </a:cubicBezTo>
                <a:cubicBezTo>
                  <a:pt x="13776" y="21187"/>
                  <a:pt x="14162" y="20772"/>
                  <a:pt x="14416" y="2022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7955" y="856749"/>
            <a:ext cx="527584" cy="864138"/>
          </a:xfrm>
          <a:custGeom>
            <a:avLst/>
            <a:gdLst/>
            <a:ahLst/>
            <a:cxnLst/>
            <a:rect l="l" t="t" r="r" b="b"/>
            <a:pathLst>
              <a:path w="21377" h="21375" extrusionOk="0">
                <a:moveTo>
                  <a:pt x="0" y="2384"/>
                </a:moveTo>
                <a:lnTo>
                  <a:pt x="110" y="18610"/>
                </a:lnTo>
                <a:cubicBezTo>
                  <a:pt x="-52" y="19374"/>
                  <a:pt x="381" y="20108"/>
                  <a:pt x="1206" y="20628"/>
                </a:cubicBezTo>
                <a:cubicBezTo>
                  <a:pt x="1802" y="21003"/>
                  <a:pt x="2597" y="21261"/>
                  <a:pt x="3498" y="21346"/>
                </a:cubicBezTo>
                <a:cubicBezTo>
                  <a:pt x="5132" y="21500"/>
                  <a:pt x="6753" y="21027"/>
                  <a:pt x="7582" y="20154"/>
                </a:cubicBezTo>
                <a:lnTo>
                  <a:pt x="20717" y="6063"/>
                </a:lnTo>
                <a:cubicBezTo>
                  <a:pt x="21366" y="5480"/>
                  <a:pt x="21548" y="4749"/>
                  <a:pt x="21214" y="4074"/>
                </a:cubicBezTo>
                <a:cubicBezTo>
                  <a:pt x="20846" y="3330"/>
                  <a:pt x="19900" y="2745"/>
                  <a:pt x="18687" y="2510"/>
                </a:cubicBezTo>
                <a:lnTo>
                  <a:pt x="4959" y="80"/>
                </a:lnTo>
                <a:cubicBezTo>
                  <a:pt x="3846" y="-100"/>
                  <a:pt x="2659" y="27"/>
                  <a:pt x="1711" y="427"/>
                </a:cubicBezTo>
                <a:cubicBezTo>
                  <a:pt x="656" y="872"/>
                  <a:pt x="19" y="1601"/>
                  <a:pt x="0" y="238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073181" y="3458690"/>
            <a:ext cx="993219" cy="1608982"/>
          </a:xfrm>
          <a:custGeom>
            <a:avLst/>
            <a:gdLst/>
            <a:ahLst/>
            <a:cxnLst/>
            <a:rect l="l" t="t" r="r" b="b"/>
            <a:pathLst>
              <a:path w="21363" h="21476" extrusionOk="0">
                <a:moveTo>
                  <a:pt x="21355" y="1522"/>
                </a:moveTo>
                <a:lnTo>
                  <a:pt x="21355" y="19018"/>
                </a:lnTo>
                <a:cubicBezTo>
                  <a:pt x="21420" y="19622"/>
                  <a:pt x="21104" y="20217"/>
                  <a:pt x="20474" y="20679"/>
                </a:cubicBezTo>
                <a:cubicBezTo>
                  <a:pt x="19889" y="21108"/>
                  <a:pt x="19073" y="21390"/>
                  <a:pt x="18178" y="21475"/>
                </a:cubicBezTo>
                <a:lnTo>
                  <a:pt x="3798" y="21475"/>
                </a:lnTo>
                <a:cubicBezTo>
                  <a:pt x="2489" y="21495"/>
                  <a:pt x="1260" y="21085"/>
                  <a:pt x="564" y="20397"/>
                </a:cubicBezTo>
                <a:cubicBezTo>
                  <a:pt x="-87" y="19752"/>
                  <a:pt x="-180" y="18948"/>
                  <a:pt x="317" y="18253"/>
                </a:cubicBezTo>
                <a:lnTo>
                  <a:pt x="16406" y="783"/>
                </a:lnTo>
                <a:cubicBezTo>
                  <a:pt x="16996" y="194"/>
                  <a:pt x="18114" y="-105"/>
                  <a:pt x="19209" y="33"/>
                </a:cubicBezTo>
                <a:cubicBezTo>
                  <a:pt x="20377" y="180"/>
                  <a:pt x="21250" y="786"/>
                  <a:pt x="21355" y="15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10"/>
          <a:stretch/>
        </p:blipFill>
        <p:spPr>
          <a:xfrm>
            <a:off x="8589900" y="4597325"/>
            <a:ext cx="242401" cy="2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6">
          <p15:clr>
            <a:srgbClr val="E46962"/>
          </p15:clr>
        </p15:guide>
        <p15:guide id="2" orient="horz" pos="198">
          <p15:clr>
            <a:srgbClr val="E46962"/>
          </p15:clr>
        </p15:guide>
        <p15:guide id="3" pos="556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 rot="10800000" flipH="1">
            <a:off x="72751" y="68464"/>
            <a:ext cx="8994641" cy="4998092"/>
          </a:xfrm>
          <a:custGeom>
            <a:avLst/>
            <a:gdLst/>
            <a:ahLst/>
            <a:cxnLst/>
            <a:rect l="l" t="t" r="r" b="b"/>
            <a:pathLst>
              <a:path w="21595" h="21587" extrusionOk="0">
                <a:moveTo>
                  <a:pt x="42" y="9505"/>
                </a:moveTo>
                <a:lnTo>
                  <a:pt x="2916" y="370"/>
                </a:lnTo>
                <a:cubicBezTo>
                  <a:pt x="2950" y="272"/>
                  <a:pt x="2995" y="188"/>
                  <a:pt x="3049" y="126"/>
                </a:cubicBezTo>
                <a:cubicBezTo>
                  <a:pt x="3114" y="49"/>
                  <a:pt x="3190" y="5"/>
                  <a:pt x="3269" y="0"/>
                </a:cubicBezTo>
                <a:lnTo>
                  <a:pt x="21150" y="0"/>
                </a:lnTo>
                <a:cubicBezTo>
                  <a:pt x="21264" y="-2"/>
                  <a:pt x="21375" y="77"/>
                  <a:pt x="21457" y="220"/>
                </a:cubicBezTo>
                <a:cubicBezTo>
                  <a:pt x="21545" y="371"/>
                  <a:pt x="21594" y="579"/>
                  <a:pt x="21593" y="797"/>
                </a:cubicBezTo>
                <a:lnTo>
                  <a:pt x="21593" y="11533"/>
                </a:lnTo>
                <a:cubicBezTo>
                  <a:pt x="21598" y="11635"/>
                  <a:pt x="21593" y="11738"/>
                  <a:pt x="21579" y="11837"/>
                </a:cubicBezTo>
                <a:cubicBezTo>
                  <a:pt x="21564" y="11939"/>
                  <a:pt x="21539" y="12035"/>
                  <a:pt x="21505" y="12121"/>
                </a:cubicBezTo>
                <a:lnTo>
                  <a:pt x="18665" y="21162"/>
                </a:lnTo>
                <a:cubicBezTo>
                  <a:pt x="18627" y="21299"/>
                  <a:pt x="18567" y="21412"/>
                  <a:pt x="18493" y="21487"/>
                </a:cubicBezTo>
                <a:cubicBezTo>
                  <a:pt x="18424" y="21557"/>
                  <a:pt x="18345" y="21591"/>
                  <a:pt x="18266" y="21585"/>
                </a:cubicBezTo>
                <a:lnTo>
                  <a:pt x="463" y="21585"/>
                </a:lnTo>
                <a:cubicBezTo>
                  <a:pt x="348" y="21598"/>
                  <a:pt x="235" y="21528"/>
                  <a:pt x="148" y="21389"/>
                </a:cubicBezTo>
                <a:cubicBezTo>
                  <a:pt x="55" y="21241"/>
                  <a:pt x="2" y="21028"/>
                  <a:pt x="2" y="20805"/>
                </a:cubicBezTo>
                <a:lnTo>
                  <a:pt x="2" y="9896"/>
                </a:lnTo>
                <a:cubicBezTo>
                  <a:pt x="-2" y="9833"/>
                  <a:pt x="-1" y="9769"/>
                  <a:pt x="5" y="9706"/>
                </a:cubicBezTo>
                <a:cubicBezTo>
                  <a:pt x="11" y="9636"/>
                  <a:pt x="24" y="9569"/>
                  <a:pt x="42" y="950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74736" y="4302697"/>
            <a:ext cx="1024293" cy="759441"/>
          </a:xfrm>
          <a:custGeom>
            <a:avLst/>
            <a:gdLst/>
            <a:ahLst/>
            <a:cxnLst/>
            <a:rect l="l" t="t" r="r" b="b"/>
            <a:pathLst>
              <a:path w="21538" h="21549" extrusionOk="0">
                <a:moveTo>
                  <a:pt x="14416" y="20222"/>
                </a:moveTo>
                <a:lnTo>
                  <a:pt x="21363" y="3632"/>
                </a:lnTo>
                <a:cubicBezTo>
                  <a:pt x="21600" y="2939"/>
                  <a:pt x="21596" y="2140"/>
                  <a:pt x="21353" y="1451"/>
                </a:cubicBezTo>
                <a:cubicBezTo>
                  <a:pt x="21077" y="669"/>
                  <a:pt x="20530" y="124"/>
                  <a:pt x="19894" y="0"/>
                </a:cubicBezTo>
                <a:lnTo>
                  <a:pt x="3192" y="117"/>
                </a:lnTo>
                <a:cubicBezTo>
                  <a:pt x="2424" y="197"/>
                  <a:pt x="1697" y="621"/>
                  <a:pt x="1128" y="1322"/>
                </a:cubicBezTo>
                <a:cubicBezTo>
                  <a:pt x="463" y="2139"/>
                  <a:pt x="59" y="3272"/>
                  <a:pt x="0" y="4483"/>
                </a:cubicBezTo>
                <a:lnTo>
                  <a:pt x="55" y="12972"/>
                </a:lnTo>
                <a:cubicBezTo>
                  <a:pt x="48" y="13925"/>
                  <a:pt x="233" y="14863"/>
                  <a:pt x="591" y="15685"/>
                </a:cubicBezTo>
                <a:cubicBezTo>
                  <a:pt x="1059" y="16758"/>
                  <a:pt x="1791" y="17575"/>
                  <a:pt x="2661" y="17991"/>
                </a:cubicBezTo>
                <a:lnTo>
                  <a:pt x="12008" y="21415"/>
                </a:lnTo>
                <a:cubicBezTo>
                  <a:pt x="12436" y="21600"/>
                  <a:pt x="12897" y="21594"/>
                  <a:pt x="13322" y="21397"/>
                </a:cubicBezTo>
                <a:cubicBezTo>
                  <a:pt x="13776" y="21187"/>
                  <a:pt x="14162" y="20772"/>
                  <a:pt x="14416" y="20222"/>
                </a:cubicBezTo>
                <a:close/>
              </a:path>
            </a:pathLst>
          </a:custGeom>
          <a:solidFill>
            <a:srgbClr val="283A97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p6"/>
          <p:cNvSpPr/>
          <p:nvPr/>
        </p:nvSpPr>
        <p:spPr>
          <a:xfrm rot="10800000" flipH="1">
            <a:off x="73082" y="3419478"/>
            <a:ext cx="528226" cy="865100"/>
          </a:xfrm>
          <a:custGeom>
            <a:avLst/>
            <a:gdLst/>
            <a:ahLst/>
            <a:cxnLst/>
            <a:rect l="l" t="t" r="r" b="b"/>
            <a:pathLst>
              <a:path w="21377" h="21375" extrusionOk="0">
                <a:moveTo>
                  <a:pt x="0" y="2384"/>
                </a:moveTo>
                <a:lnTo>
                  <a:pt x="110" y="18610"/>
                </a:lnTo>
                <a:cubicBezTo>
                  <a:pt x="-52" y="19374"/>
                  <a:pt x="381" y="20108"/>
                  <a:pt x="1206" y="20628"/>
                </a:cubicBezTo>
                <a:cubicBezTo>
                  <a:pt x="1802" y="21003"/>
                  <a:pt x="2597" y="21261"/>
                  <a:pt x="3498" y="21346"/>
                </a:cubicBezTo>
                <a:cubicBezTo>
                  <a:pt x="5132" y="21500"/>
                  <a:pt x="6753" y="21027"/>
                  <a:pt x="7582" y="20154"/>
                </a:cubicBezTo>
                <a:lnTo>
                  <a:pt x="20717" y="6063"/>
                </a:lnTo>
                <a:cubicBezTo>
                  <a:pt x="21366" y="5480"/>
                  <a:pt x="21548" y="4749"/>
                  <a:pt x="21214" y="4074"/>
                </a:cubicBezTo>
                <a:cubicBezTo>
                  <a:pt x="20846" y="3330"/>
                  <a:pt x="19900" y="2745"/>
                  <a:pt x="18687" y="2510"/>
                </a:cubicBezTo>
                <a:lnTo>
                  <a:pt x="4959" y="80"/>
                </a:lnTo>
                <a:cubicBezTo>
                  <a:pt x="3846" y="-100"/>
                  <a:pt x="2659" y="27"/>
                  <a:pt x="1711" y="427"/>
                </a:cubicBezTo>
                <a:cubicBezTo>
                  <a:pt x="656" y="872"/>
                  <a:pt x="19" y="1601"/>
                  <a:pt x="0" y="2384"/>
                </a:cubicBezTo>
                <a:close/>
              </a:path>
            </a:pathLst>
          </a:custGeom>
          <a:solidFill>
            <a:srgbClr val="F5C1BC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6"/>
          <p:cNvSpPr/>
          <p:nvPr/>
        </p:nvSpPr>
        <p:spPr>
          <a:xfrm rot="10800000" flipH="1">
            <a:off x="8077882" y="68621"/>
            <a:ext cx="994341" cy="1610915"/>
          </a:xfrm>
          <a:custGeom>
            <a:avLst/>
            <a:gdLst/>
            <a:ahLst/>
            <a:cxnLst/>
            <a:rect l="l" t="t" r="r" b="b"/>
            <a:pathLst>
              <a:path w="21363" h="21476" extrusionOk="0">
                <a:moveTo>
                  <a:pt x="21355" y="1522"/>
                </a:moveTo>
                <a:lnTo>
                  <a:pt x="21355" y="19018"/>
                </a:lnTo>
                <a:cubicBezTo>
                  <a:pt x="21420" y="19622"/>
                  <a:pt x="21104" y="20217"/>
                  <a:pt x="20474" y="20679"/>
                </a:cubicBezTo>
                <a:cubicBezTo>
                  <a:pt x="19889" y="21108"/>
                  <a:pt x="19073" y="21390"/>
                  <a:pt x="18178" y="21475"/>
                </a:cubicBezTo>
                <a:lnTo>
                  <a:pt x="3798" y="21475"/>
                </a:lnTo>
                <a:cubicBezTo>
                  <a:pt x="2489" y="21495"/>
                  <a:pt x="1260" y="21085"/>
                  <a:pt x="564" y="20397"/>
                </a:cubicBezTo>
                <a:cubicBezTo>
                  <a:pt x="-87" y="19752"/>
                  <a:pt x="-180" y="18948"/>
                  <a:pt x="317" y="18253"/>
                </a:cubicBezTo>
                <a:lnTo>
                  <a:pt x="16406" y="783"/>
                </a:lnTo>
                <a:cubicBezTo>
                  <a:pt x="16996" y="194"/>
                  <a:pt x="18114" y="-105"/>
                  <a:pt x="19209" y="33"/>
                </a:cubicBezTo>
                <a:cubicBezTo>
                  <a:pt x="20377" y="180"/>
                  <a:pt x="21250" y="786"/>
                  <a:pt x="21355" y="1522"/>
                </a:cubicBezTo>
                <a:close/>
              </a:path>
            </a:pathLst>
          </a:custGeom>
          <a:solidFill>
            <a:srgbClr val="1B264F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 b="10"/>
          <a:stretch/>
        </p:blipFill>
        <p:spPr>
          <a:xfrm>
            <a:off x="8589900" y="4597325"/>
            <a:ext cx="242401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03">
          <p15:clr>
            <a:srgbClr val="E46962"/>
          </p15:clr>
        </p15:guide>
        <p15:guide id="2" orient="horz" pos="195">
          <p15:clr>
            <a:srgbClr val="E46962"/>
          </p15:clr>
        </p15:guide>
        <p15:guide id="3" pos="5564">
          <p15:clr>
            <a:srgbClr val="E46962"/>
          </p15:clr>
        </p15:guide>
        <p15:guide id="4" orient="horz" pos="1509">
          <p15:clr>
            <a:srgbClr val="E46962"/>
          </p15:clr>
        </p15:guide>
        <p15:guide id="5" pos="2880">
          <p15:clr>
            <a:srgbClr val="E46962"/>
          </p15:clr>
        </p15:guide>
        <p15:guide id="6" orient="horz" pos="2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73115" y="77784"/>
            <a:ext cx="5276112" cy="4992893"/>
          </a:xfrm>
          <a:custGeom>
            <a:avLst/>
            <a:gdLst/>
            <a:ahLst/>
            <a:cxnLst/>
            <a:rect l="l" t="t" r="r" b="b"/>
            <a:pathLst>
              <a:path w="21575" h="21572" extrusionOk="0">
                <a:moveTo>
                  <a:pt x="4" y="731"/>
                </a:moveTo>
                <a:lnTo>
                  <a:pt x="4" y="20674"/>
                </a:lnTo>
                <a:cubicBezTo>
                  <a:pt x="-17" y="20883"/>
                  <a:pt x="39" y="21093"/>
                  <a:pt x="161" y="21259"/>
                </a:cubicBezTo>
                <a:cubicBezTo>
                  <a:pt x="292" y="21437"/>
                  <a:pt x="487" y="21550"/>
                  <a:pt x="699" y="21571"/>
                </a:cubicBezTo>
                <a:lnTo>
                  <a:pt x="18201" y="21571"/>
                </a:lnTo>
                <a:cubicBezTo>
                  <a:pt x="18315" y="21576"/>
                  <a:pt x="18429" y="21555"/>
                  <a:pt x="18535" y="21509"/>
                </a:cubicBezTo>
                <a:cubicBezTo>
                  <a:pt x="18657" y="21456"/>
                  <a:pt x="18765" y="21372"/>
                  <a:pt x="18849" y="21263"/>
                </a:cubicBezTo>
                <a:lnTo>
                  <a:pt x="21370" y="18147"/>
                </a:lnTo>
                <a:cubicBezTo>
                  <a:pt x="21435" y="18069"/>
                  <a:pt x="21486" y="17978"/>
                  <a:pt x="21520" y="17880"/>
                </a:cubicBezTo>
                <a:cubicBezTo>
                  <a:pt x="21560" y="17762"/>
                  <a:pt x="21575" y="17636"/>
                  <a:pt x="21564" y="17512"/>
                </a:cubicBezTo>
                <a:lnTo>
                  <a:pt x="21575" y="736"/>
                </a:lnTo>
                <a:cubicBezTo>
                  <a:pt x="21583" y="511"/>
                  <a:pt x="21490" y="296"/>
                  <a:pt x="21323" y="155"/>
                </a:cubicBezTo>
                <a:cubicBezTo>
                  <a:pt x="21187" y="41"/>
                  <a:pt x="21014" y="-12"/>
                  <a:pt x="20841" y="7"/>
                </a:cubicBezTo>
                <a:lnTo>
                  <a:pt x="810" y="7"/>
                </a:lnTo>
                <a:cubicBezTo>
                  <a:pt x="608" y="-24"/>
                  <a:pt x="403" y="39"/>
                  <a:pt x="248" y="179"/>
                </a:cubicBezTo>
                <a:cubicBezTo>
                  <a:pt x="96" y="318"/>
                  <a:pt x="7" y="519"/>
                  <a:pt x="4" y="7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5492879" y="69056"/>
            <a:ext cx="437763" cy="527860"/>
          </a:xfrm>
          <a:custGeom>
            <a:avLst/>
            <a:gdLst/>
            <a:ahLst/>
            <a:cxnLst/>
            <a:rect l="l" t="t" r="r" b="b"/>
            <a:pathLst>
              <a:path w="21383" h="21449" extrusionOk="0">
                <a:moveTo>
                  <a:pt x="10" y="2594"/>
                </a:moveTo>
                <a:lnTo>
                  <a:pt x="10" y="19147"/>
                </a:lnTo>
                <a:cubicBezTo>
                  <a:pt x="-7" y="20211"/>
                  <a:pt x="866" y="21142"/>
                  <a:pt x="2111" y="21388"/>
                </a:cubicBezTo>
                <a:cubicBezTo>
                  <a:pt x="3184" y="21600"/>
                  <a:pt x="4304" y="21245"/>
                  <a:pt x="4935" y="20492"/>
                </a:cubicBezTo>
                <a:lnTo>
                  <a:pt x="20608" y="3928"/>
                </a:lnTo>
                <a:cubicBezTo>
                  <a:pt x="21299" y="3327"/>
                  <a:pt x="21552" y="2464"/>
                  <a:pt x="21270" y="1665"/>
                </a:cubicBezTo>
                <a:cubicBezTo>
                  <a:pt x="20957" y="777"/>
                  <a:pt x="20045" y="125"/>
                  <a:pt x="18943" y="0"/>
                </a:cubicBezTo>
                <a:lnTo>
                  <a:pt x="2322" y="0"/>
                </a:lnTo>
                <a:cubicBezTo>
                  <a:pt x="1629" y="125"/>
                  <a:pt x="1014" y="454"/>
                  <a:pt x="589" y="925"/>
                </a:cubicBezTo>
                <a:cubicBezTo>
                  <a:pt x="158" y="1404"/>
                  <a:pt x="-48" y="1997"/>
                  <a:pt x="10" y="25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873586" y="4519865"/>
            <a:ext cx="473808" cy="546860"/>
          </a:xfrm>
          <a:custGeom>
            <a:avLst/>
            <a:gdLst/>
            <a:ahLst/>
            <a:cxnLst/>
            <a:rect l="l" t="t" r="r" b="b"/>
            <a:pathLst>
              <a:path w="21483" h="21414" extrusionOk="0">
                <a:moveTo>
                  <a:pt x="214" y="19001"/>
                </a:moveTo>
                <a:lnTo>
                  <a:pt x="18112" y="544"/>
                </a:lnTo>
                <a:cubicBezTo>
                  <a:pt x="18603" y="81"/>
                  <a:pt x="19352" y="-106"/>
                  <a:pt x="20053" y="59"/>
                </a:cubicBezTo>
                <a:cubicBezTo>
                  <a:pt x="20811" y="237"/>
                  <a:pt x="21371" y="790"/>
                  <a:pt x="21476" y="1462"/>
                </a:cubicBezTo>
                <a:lnTo>
                  <a:pt x="21476" y="19096"/>
                </a:lnTo>
                <a:cubicBezTo>
                  <a:pt x="21530" y="19725"/>
                  <a:pt x="21262" y="20343"/>
                  <a:pt x="20744" y="20786"/>
                </a:cubicBezTo>
                <a:cubicBezTo>
                  <a:pt x="20313" y="21154"/>
                  <a:pt x="19742" y="21373"/>
                  <a:pt x="19137" y="21401"/>
                </a:cubicBezTo>
                <a:lnTo>
                  <a:pt x="2188" y="21401"/>
                </a:lnTo>
                <a:cubicBezTo>
                  <a:pt x="1325" y="21494"/>
                  <a:pt x="494" y="21082"/>
                  <a:pt x="152" y="20391"/>
                </a:cubicBezTo>
                <a:cubicBezTo>
                  <a:pt x="-70" y="19943"/>
                  <a:pt x="-47" y="19433"/>
                  <a:pt x="214" y="19001"/>
                </a:cubicBezTo>
                <a:close/>
              </a:path>
            </a:pathLst>
          </a:custGeom>
          <a:solidFill>
            <a:srgbClr val="283A97"/>
          </a:solidFill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311700" y="320175"/>
            <a:ext cx="4795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4795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3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>
            <a:spLocks noGrp="1"/>
          </p:cNvSpPr>
          <p:nvPr>
            <p:ph type="pic" idx="2"/>
          </p:nvPr>
        </p:nvSpPr>
        <p:spPr>
          <a:xfrm>
            <a:off x="80100" y="79500"/>
            <a:ext cx="8983800" cy="4992300"/>
          </a:xfrm>
          <a:prstGeom prst="roundRect">
            <a:avLst>
              <a:gd name="adj" fmla="val 3961"/>
            </a:avLst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8" r:id="rId5"/>
    <p:sldLayoutId id="214748366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ippopx.com/en/road-start-beginning-intention-plant-stop-design-15555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hyperlink" Target="https://www.rawpixel.com/search/chicago?page=1&amp;sort=curat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mbraco.com/blog/announcing-the-beta-release-of-the-developer-mcp-server-for-umbraco-cm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next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311700" y="1904280"/>
            <a:ext cx="8520600" cy="8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CA" b="1" dirty="0"/>
              <a:t>Automate All the Things</a:t>
            </a:r>
            <a:br>
              <a:rPr lang="en-CA" b="1" dirty="0"/>
            </a:br>
            <a:endParaRPr dirty="0"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/>
          </p:nvPr>
        </p:nvSpPr>
        <p:spPr>
          <a:xfrm>
            <a:off x="311700" y="2792880"/>
            <a:ext cx="8520600" cy="20390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CA" b="1" i="0" dirty="0"/>
              <a:t>“Building &amp; Evolving Umbraco Sites with AI Agents”</a:t>
            </a:r>
            <a:br>
              <a:rPr lang="en-CA" b="1" i="0" dirty="0"/>
            </a:br>
            <a:br>
              <a:rPr lang="en-CA" b="1" i="0" dirty="0"/>
            </a:br>
            <a:r>
              <a:rPr lang="en-CA" sz="1400" i="0" dirty="0"/>
              <a:t>Shannon Thompson Deminick</a:t>
            </a:r>
            <a:br>
              <a:rPr lang="en-CA" sz="1400" i="0" dirty="0"/>
            </a:br>
            <a:r>
              <a:rPr lang="en-CA" sz="1400" i="0" dirty="0"/>
              <a:t>Microsoft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9F8A2E5-4276-2DCF-FB71-0DFCFEBDB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2FAD23B-0EE0-01C1-8361-7182934EB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0"/>
            <a:ext cx="4635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2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754F4A5-D923-E290-A076-49DBA3EA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>
            <a:extLst>
              <a:ext uri="{FF2B5EF4-FFF2-40B4-BE49-F238E27FC236}">
                <a16:creationId xmlns:a16="http://schemas.microsoft.com/office/drawing/2014/main" id="{AAFB5B47-6A0C-8ABD-FC7D-CF6AC2F00841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2216" b="22216"/>
          <a:stretch/>
        </p:blipFill>
        <p:spPr>
          <a:xfrm>
            <a:off x="77601" y="75650"/>
            <a:ext cx="8983898" cy="4992210"/>
          </a:xfrm>
          <a:custGeom>
            <a:avLst/>
            <a:gdLst/>
            <a:ahLst/>
            <a:cxnLst/>
            <a:rect l="l" t="t" r="r" b="b"/>
            <a:pathLst>
              <a:path w="21595" h="21587" extrusionOk="0">
                <a:moveTo>
                  <a:pt x="3269" y="0"/>
                </a:moveTo>
                <a:cubicBezTo>
                  <a:pt x="3191" y="5"/>
                  <a:pt x="3114" y="49"/>
                  <a:pt x="3049" y="126"/>
                </a:cubicBezTo>
                <a:cubicBezTo>
                  <a:pt x="2995" y="189"/>
                  <a:pt x="2950" y="272"/>
                  <a:pt x="2916" y="370"/>
                </a:cubicBezTo>
                <a:lnTo>
                  <a:pt x="42" y="9505"/>
                </a:lnTo>
                <a:cubicBezTo>
                  <a:pt x="24" y="9569"/>
                  <a:pt x="12" y="9636"/>
                  <a:pt x="5" y="9707"/>
                </a:cubicBezTo>
                <a:cubicBezTo>
                  <a:pt x="-1" y="9769"/>
                  <a:pt x="-2" y="9833"/>
                  <a:pt x="2" y="9896"/>
                </a:cubicBezTo>
                <a:lnTo>
                  <a:pt x="2" y="20805"/>
                </a:lnTo>
                <a:cubicBezTo>
                  <a:pt x="2" y="21028"/>
                  <a:pt x="55" y="21241"/>
                  <a:pt x="148" y="21389"/>
                </a:cubicBezTo>
                <a:cubicBezTo>
                  <a:pt x="235" y="21527"/>
                  <a:pt x="348" y="21598"/>
                  <a:pt x="463" y="21585"/>
                </a:cubicBezTo>
                <a:lnTo>
                  <a:pt x="18266" y="21585"/>
                </a:lnTo>
                <a:cubicBezTo>
                  <a:pt x="18345" y="21591"/>
                  <a:pt x="18424" y="21557"/>
                  <a:pt x="18493" y="21487"/>
                </a:cubicBezTo>
                <a:cubicBezTo>
                  <a:pt x="18567" y="21412"/>
                  <a:pt x="18627" y="21299"/>
                  <a:pt x="18665" y="21162"/>
                </a:cubicBezTo>
                <a:lnTo>
                  <a:pt x="21505" y="12121"/>
                </a:lnTo>
                <a:cubicBezTo>
                  <a:pt x="21539" y="12035"/>
                  <a:pt x="21564" y="11939"/>
                  <a:pt x="21579" y="11837"/>
                </a:cubicBezTo>
                <a:cubicBezTo>
                  <a:pt x="21593" y="11738"/>
                  <a:pt x="21598" y="11635"/>
                  <a:pt x="21593" y="11533"/>
                </a:cubicBezTo>
                <a:lnTo>
                  <a:pt x="21593" y="797"/>
                </a:lnTo>
                <a:cubicBezTo>
                  <a:pt x="21594" y="580"/>
                  <a:pt x="21545" y="370"/>
                  <a:pt x="21457" y="220"/>
                </a:cubicBezTo>
                <a:cubicBezTo>
                  <a:pt x="21375" y="77"/>
                  <a:pt x="21264" y="-2"/>
                  <a:pt x="21149" y="0"/>
                </a:cubicBezTo>
                <a:lnTo>
                  <a:pt x="3269" y="0"/>
                </a:lnTo>
                <a:close/>
              </a:path>
            </a:pathLst>
          </a:custGeom>
          <a:noFill/>
          <a:ln>
            <a:noFill/>
          </a:ln>
          <a:effectLst>
            <a:outerShdw blurRad="142875" algn="bl" rotWithShape="0">
              <a:srgbClr val="000000">
                <a:alpha val="1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223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320175"/>
            <a:ext cx="4795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What this talk was</a:t>
            </a:r>
            <a:endParaRPr dirty="0"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4795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Originally created for the Umbraco US Festival in Chicago – Oct 2, 2025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Do you know how much has changed in AI since then!?</a:t>
            </a: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6109" r="26109"/>
          <a:stretch/>
        </p:blipFill>
        <p:spPr>
          <a:xfrm>
            <a:off x="5494875" y="72102"/>
            <a:ext cx="3575481" cy="4991153"/>
          </a:xfrm>
          <a:custGeom>
            <a:avLst/>
            <a:gdLst/>
            <a:ahLst/>
            <a:cxnLst/>
            <a:rect l="l" t="t" r="r" b="b"/>
            <a:pathLst>
              <a:path w="21594" h="21578" extrusionOk="0">
                <a:moveTo>
                  <a:pt x="4564" y="1"/>
                </a:moveTo>
                <a:cubicBezTo>
                  <a:pt x="4431" y="7"/>
                  <a:pt x="4300" y="30"/>
                  <a:pt x="4178" y="70"/>
                </a:cubicBezTo>
                <a:cubicBezTo>
                  <a:pt x="4034" y="116"/>
                  <a:pt x="3906" y="185"/>
                  <a:pt x="3802" y="270"/>
                </a:cubicBezTo>
                <a:lnTo>
                  <a:pt x="182" y="3557"/>
                </a:lnTo>
                <a:cubicBezTo>
                  <a:pt x="112" y="3638"/>
                  <a:pt x="61" y="3726"/>
                  <a:pt x="31" y="3819"/>
                </a:cubicBezTo>
                <a:cubicBezTo>
                  <a:pt x="3" y="3905"/>
                  <a:pt x="-6" y="3994"/>
                  <a:pt x="4" y="4082"/>
                </a:cubicBezTo>
                <a:lnTo>
                  <a:pt x="27" y="20865"/>
                </a:lnTo>
                <a:cubicBezTo>
                  <a:pt x="34" y="21064"/>
                  <a:pt x="153" y="21252"/>
                  <a:pt x="359" y="21386"/>
                </a:cubicBezTo>
                <a:cubicBezTo>
                  <a:pt x="581" y="21531"/>
                  <a:pt x="880" y="21599"/>
                  <a:pt x="1179" y="21572"/>
                </a:cubicBezTo>
                <a:lnTo>
                  <a:pt x="20706" y="21577"/>
                </a:lnTo>
                <a:cubicBezTo>
                  <a:pt x="20930" y="21536"/>
                  <a:pt x="21132" y="21449"/>
                  <a:pt x="21288" y="21327"/>
                </a:cubicBezTo>
                <a:cubicBezTo>
                  <a:pt x="21456" y="21195"/>
                  <a:pt x="21564" y="21030"/>
                  <a:pt x="21594" y="20853"/>
                </a:cubicBezTo>
                <a:lnTo>
                  <a:pt x="21594" y="713"/>
                </a:lnTo>
                <a:cubicBezTo>
                  <a:pt x="21565" y="497"/>
                  <a:pt x="21413" y="299"/>
                  <a:pt x="21174" y="166"/>
                </a:cubicBezTo>
                <a:cubicBezTo>
                  <a:pt x="21003" y="70"/>
                  <a:pt x="20796" y="12"/>
                  <a:pt x="20578" y="1"/>
                </a:cubicBezTo>
                <a:lnTo>
                  <a:pt x="4698" y="1"/>
                </a:lnTo>
                <a:cubicBezTo>
                  <a:pt x="4653" y="-1"/>
                  <a:pt x="4608" y="-1"/>
                  <a:pt x="4564" y="1"/>
                </a:cubicBezTo>
                <a:close/>
              </a:path>
            </a:pathLst>
          </a:custGeom>
          <a:noFill/>
          <a:ln>
            <a:noFill/>
          </a:ln>
          <a:effectLst>
            <a:outerShdw blurRad="214313" algn="bl" rotWithShape="0">
              <a:srgbClr val="000000">
                <a:alpha val="10000"/>
              </a:srgbClr>
            </a:outerShdw>
          </a:effectLst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5">
            <a:alphaModFix/>
          </a:blip>
          <a:srcRect b="10"/>
          <a:stretch/>
        </p:blipFill>
        <p:spPr>
          <a:xfrm>
            <a:off x="8589900" y="4597325"/>
            <a:ext cx="242401" cy="2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2DD8B0E-AD02-DACE-2C9C-179EEEB5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1C0CB884-7DEB-860D-E4C6-8D5183800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Timeline since Chicago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95241AB6-639F-34C3-D445-E50D3742A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Sep: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b="1" u="sng" dirty="0">
                <a:solidFill>
                  <a:schemeClr val="tx2">
                    <a:lumMod val="75000"/>
                  </a:schemeClr>
                </a:solidFill>
              </a:rPr>
              <a:t>Umbraco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 MCP Beta Drops: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Community prototypes shift to the official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Beta Release of the Developer MCP Server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(Sept 18), mapping the Management API to LLMs.</a:t>
            </a:r>
            <a:endParaRPr lang="en-CA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CA" b="1" dirty="0"/>
              <a:t>Phase 1: The "Agent" Explosion (Oct – Dec 2025)</a:t>
            </a:r>
          </a:p>
          <a:p>
            <a:pPr lvl="1"/>
            <a:r>
              <a:rPr lang="en-CA" b="1" dirty="0"/>
              <a:t>Oct:</a:t>
            </a:r>
            <a:r>
              <a:rPr lang="en-CA" dirty="0"/>
              <a:t> </a:t>
            </a:r>
            <a:r>
              <a:rPr lang="en-CA" b="1" dirty="0"/>
              <a:t>Anthropic Sonnet 4.5</a:t>
            </a:r>
            <a:r>
              <a:rPr lang="en-CA" dirty="0"/>
              <a:t> launches with native "Computer Use" agent capabilities.</a:t>
            </a:r>
          </a:p>
          <a:p>
            <a:pPr lvl="1"/>
            <a:r>
              <a:rPr lang="en-CA" b="1" dirty="0"/>
              <a:t>Oct:</a:t>
            </a:r>
            <a:r>
              <a:rPr lang="en-CA" dirty="0"/>
              <a:t> </a:t>
            </a:r>
            <a:r>
              <a:rPr lang="en-CA" b="1" dirty="0"/>
              <a:t>Cursor Composer</a:t>
            </a:r>
            <a:r>
              <a:rPr lang="en-CA" dirty="0"/>
              <a:t> introduces background agents editing multiple files concurrently.</a:t>
            </a:r>
          </a:p>
          <a:p>
            <a:pPr lvl="1"/>
            <a:r>
              <a:rPr lang="en-CA" b="1" dirty="0"/>
              <a:t>Oct:</a:t>
            </a:r>
            <a:r>
              <a:rPr lang="en-CA" dirty="0"/>
              <a:t> </a:t>
            </a:r>
            <a:r>
              <a:rPr lang="en-CA" b="1" dirty="0"/>
              <a:t>OpenAI Codex &amp; Atlas</a:t>
            </a:r>
            <a:r>
              <a:rPr lang="en-CA" dirty="0"/>
              <a:t> browser release to enable multi-step web task automation.</a:t>
            </a:r>
          </a:p>
          <a:p>
            <a:pPr lvl="1"/>
            <a:r>
              <a:rPr lang="en-CA" b="1" dirty="0"/>
              <a:t>Oct:</a:t>
            </a:r>
            <a:r>
              <a:rPr lang="en-CA" dirty="0"/>
              <a:t> </a:t>
            </a:r>
            <a:r>
              <a:rPr lang="en-CA" b="1" dirty="0"/>
              <a:t>GitHub Copilot CLI</a:t>
            </a:r>
            <a:r>
              <a:rPr lang="en-CA" dirty="0"/>
              <a:t> public preview debuts, deprecating legacy terminal tools.</a:t>
            </a:r>
          </a:p>
          <a:p>
            <a:pPr lvl="1"/>
            <a:r>
              <a:rPr lang="en-CA" b="1" dirty="0"/>
              <a:t>Nov:</a:t>
            </a:r>
            <a:r>
              <a:rPr lang="en-CA" dirty="0"/>
              <a:t> </a:t>
            </a:r>
            <a:r>
              <a:rPr lang="en-CA" b="1" dirty="0"/>
              <a:t>OpenClaw Genesis:</a:t>
            </a:r>
            <a:r>
              <a:rPr lang="en-CA" dirty="0"/>
              <a:t> Warelay script is written, framing the OpenClaw architecture.</a:t>
            </a:r>
          </a:p>
          <a:p>
            <a:pPr lvl="1"/>
            <a:r>
              <a:rPr lang="en-CA" b="1" dirty="0"/>
              <a:t>Nov:</a:t>
            </a:r>
            <a:r>
              <a:rPr lang="en-CA" dirty="0"/>
              <a:t> </a:t>
            </a:r>
            <a:r>
              <a:rPr lang="en-CA" b="1" dirty="0"/>
              <a:t>OpenAI GPT-5-Codex-Max</a:t>
            </a:r>
            <a:r>
              <a:rPr lang="en-CA" dirty="0"/>
              <a:t> drops, optimizing large-scale repo architecture loops.</a:t>
            </a:r>
          </a:p>
          <a:p>
            <a:pPr lvl="1"/>
            <a:r>
              <a:rPr lang="en-CA" b="1" dirty="0"/>
              <a:t>Dec: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 AI Strategy Core:</a:t>
            </a:r>
            <a:r>
              <a:rPr lang="en-CA" dirty="0"/>
              <a:t> HQ formalizes the "Stable CMS, Flexible AI" framework.</a:t>
            </a:r>
          </a:p>
        </p:txBody>
      </p:sp>
    </p:spTree>
    <p:extLst>
      <p:ext uri="{BB962C8B-B14F-4D97-AF65-F5344CB8AC3E}">
        <p14:creationId xmlns:p14="http://schemas.microsoft.com/office/powerpoint/2010/main" val="265677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DED9BFE-02A2-BC63-7395-BE7868C8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78BDFD64-F7A5-883A-D463-F848367E69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Timeline since Chicago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57510151-6354-E7C7-E702-3E073AE83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CA" b="1" dirty="0"/>
              <a:t>Phase 2: Reasoning &amp; Deep Integration (Jan – Feb 2026)</a:t>
            </a:r>
          </a:p>
          <a:p>
            <a:pPr lvl="1"/>
            <a:r>
              <a:rPr lang="en-CA" b="1" dirty="0"/>
              <a:t>Jan:</a:t>
            </a:r>
            <a:r>
              <a:rPr lang="en-CA" dirty="0"/>
              <a:t> </a:t>
            </a:r>
            <a:r>
              <a:rPr lang="en-CA" b="1" dirty="0"/>
              <a:t>DeepSeek R1</a:t>
            </a:r>
            <a:r>
              <a:rPr lang="en-CA" dirty="0"/>
              <a:t> open-weights launch democratizes reasoning for local developer setups.</a:t>
            </a:r>
          </a:p>
          <a:p>
            <a:pPr lvl="1"/>
            <a:r>
              <a:rPr lang="en-CA" b="1" dirty="0"/>
              <a:t>Jan:</a:t>
            </a:r>
            <a:r>
              <a:rPr lang="en-CA" dirty="0"/>
              <a:t> </a:t>
            </a:r>
            <a:r>
              <a:rPr lang="en-CA" b="1" dirty="0"/>
              <a:t>OpenAI o3-mini</a:t>
            </a:r>
            <a:r>
              <a:rPr lang="en-CA" dirty="0"/>
              <a:t> releases, bringing low-cost, fast reasoning models to active dev loops.</a:t>
            </a:r>
          </a:p>
          <a:p>
            <a:pPr lvl="1"/>
            <a:r>
              <a:rPr lang="en-CA" b="1" dirty="0"/>
              <a:t>Jan:</a:t>
            </a:r>
            <a:r>
              <a:rPr lang="en-CA" dirty="0"/>
              <a:t> </a:t>
            </a:r>
            <a:r>
              <a:rPr lang="en-CA" b="1" dirty="0"/>
              <a:t>Ralph Loops &amp; Gas Town</a:t>
            </a:r>
            <a:r>
              <a:rPr lang="en-CA" dirty="0"/>
              <a:t> launch, pioneering parallel agent loops via tmux and Git.</a:t>
            </a:r>
          </a:p>
          <a:p>
            <a:pPr lvl="1"/>
            <a:r>
              <a:rPr lang="en-CA" b="1" dirty="0"/>
              <a:t>Jan:</a:t>
            </a:r>
            <a:r>
              <a:rPr lang="en-CA" dirty="0"/>
              <a:t> </a:t>
            </a:r>
            <a:r>
              <a:rPr lang="en-CA" b="1" dirty="0"/>
              <a:t>OpenClaw</a:t>
            </a:r>
            <a:r>
              <a:rPr lang="en-CA" dirty="0"/>
              <a:t> hits GitHub, skyrocketing to 9,000 stars within its first 24 hours.</a:t>
            </a:r>
          </a:p>
          <a:p>
            <a:pPr lvl="1"/>
            <a:r>
              <a:rPr lang="en-CA" b="1" dirty="0"/>
              <a:t>Feb: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.AI Unveiled:</a:t>
            </a:r>
            <a:r>
              <a:rPr lang="en-CA" dirty="0"/>
              <a:t> HQ launches the core provider-agnostic package built on Microsoft.Extensions.AI.</a:t>
            </a:r>
          </a:p>
          <a:p>
            <a:pPr lvl="1"/>
            <a:r>
              <a:rPr lang="en-CA" b="1" dirty="0"/>
              <a:t>Feb: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 Copilot &amp; Prompt:</a:t>
            </a:r>
            <a:r>
              <a:rPr lang="en-CA" dirty="0"/>
              <a:t> Open-source backoffice chat UI and predefined actions launch on the Marketplace.</a:t>
            </a:r>
          </a:p>
          <a:p>
            <a:pPr lvl="1"/>
            <a:r>
              <a:rPr lang="en-CA" b="1" dirty="0"/>
              <a:t>Feb:</a:t>
            </a:r>
            <a:r>
              <a:rPr lang="en-CA" dirty="0"/>
              <a:t> </a:t>
            </a:r>
            <a:r>
              <a:rPr lang="en-CA" b="1" dirty="0"/>
              <a:t>Claude 4.6 (Opus &amp; Sonnet)</a:t>
            </a:r>
            <a:r>
              <a:rPr lang="en-CA" dirty="0"/>
              <a:t> deploy, standardizing adaptive context and agent speed.</a:t>
            </a:r>
          </a:p>
          <a:p>
            <a:pPr lvl="1"/>
            <a:r>
              <a:rPr lang="en-CA" b="1" dirty="0"/>
              <a:t>Feb:</a:t>
            </a:r>
            <a:r>
              <a:rPr lang="en-CA" dirty="0"/>
              <a:t> </a:t>
            </a:r>
            <a:r>
              <a:rPr lang="en-CA" b="1" dirty="0"/>
              <a:t>Apple Xcode 26.3</a:t>
            </a:r>
            <a:r>
              <a:rPr lang="en-CA" dirty="0"/>
              <a:t> embeds Model Context Protocol (MCP) natively for iOS building.</a:t>
            </a:r>
          </a:p>
          <a:p>
            <a:pPr lvl="1"/>
            <a:r>
              <a:rPr lang="en-CA" b="1" dirty="0"/>
              <a:t>Feb:</a:t>
            </a:r>
            <a:r>
              <a:rPr lang="en-CA" dirty="0"/>
              <a:t> </a:t>
            </a:r>
            <a:r>
              <a:rPr lang="en-CA" b="1" dirty="0"/>
              <a:t>GitHub Copilot CLI</a:t>
            </a:r>
            <a:r>
              <a:rPr lang="en-CA" dirty="0"/>
              <a:t> reaches GA, operating as a cross-session agent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200447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B7B9976-8A17-24CB-BD20-C1FCE84C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C4C5BA0C-AB42-1027-D90B-D7F140F2D3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Timeline since Chicago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15BA3A8F-C77F-64BA-E851-A511AFF96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CA" b="1" dirty="0"/>
              <a:t>Phase 3: Refinement &amp; Evolution (Mar – June 2026)</a:t>
            </a:r>
          </a:p>
          <a:p>
            <a:pPr lvl="1"/>
            <a:r>
              <a:rPr lang="en-CA" b="1" dirty="0"/>
              <a:t>Mar: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 AI Groups:</a:t>
            </a:r>
            <a:r>
              <a:rPr lang="en-CA" dirty="0"/>
              <a:t> The Umbraco in AI Community Team &amp; Advisory Board are officially formed.</a:t>
            </a:r>
          </a:p>
          <a:p>
            <a:pPr lvl="1"/>
            <a:r>
              <a:rPr lang="en-CA" b="1" dirty="0"/>
              <a:t>Mar:</a:t>
            </a:r>
            <a:r>
              <a:rPr lang="en-CA" dirty="0"/>
              <a:t> </a:t>
            </a:r>
            <a:r>
              <a:rPr lang="en-CA" b="1" dirty="0"/>
              <a:t>OpenClaw</a:t>
            </a:r>
            <a:r>
              <a:rPr lang="en-CA" dirty="0"/>
              <a:t> surges past 240,000 GitHub stars, eclipsing legacy tech adoption curves.</a:t>
            </a:r>
          </a:p>
          <a:p>
            <a:pPr lvl="1"/>
            <a:r>
              <a:rPr lang="en-CA" b="1" dirty="0"/>
              <a:t>Apr: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 MCP Server:</a:t>
            </a:r>
            <a:r>
              <a:rPr lang="en-CA" dirty="0"/>
              <a:t> Native support brings 315 Management API endpoints to Copilot/Cursor.</a:t>
            </a:r>
          </a:p>
          <a:p>
            <a:pPr lvl="1"/>
            <a:r>
              <a:rPr lang="en-CA" b="1" dirty="0"/>
              <a:t>Apr:</a:t>
            </a:r>
            <a:r>
              <a:rPr lang="en-CA" dirty="0"/>
              <a:t> </a:t>
            </a:r>
            <a:r>
              <a:rPr lang="en-CA" b="1" dirty="0"/>
              <a:t>Claude Opus 4.7 &amp; GPT-5.5</a:t>
            </a:r>
            <a:r>
              <a:rPr lang="en-CA" dirty="0"/>
              <a:t> launch, expanding deep multimodal developer reasoning.</a:t>
            </a:r>
          </a:p>
          <a:p>
            <a:pPr lvl="1"/>
            <a:r>
              <a:rPr lang="en-CA" b="1" dirty="0"/>
              <a:t>Apr:</a:t>
            </a:r>
            <a:r>
              <a:rPr lang="en-CA" dirty="0"/>
              <a:t> </a:t>
            </a:r>
            <a:r>
              <a:rPr lang="en-CA" b="1" dirty="0"/>
              <a:t>Gas City</a:t>
            </a:r>
            <a:r>
              <a:rPr lang="en-CA" dirty="0"/>
              <a:t> launches, evolving Gas Town into an enterprise-grade agent-factory SDK.</a:t>
            </a:r>
          </a:p>
          <a:p>
            <a:pPr lvl="1"/>
            <a:r>
              <a:rPr lang="en-CA" b="1" dirty="0"/>
              <a:t>May:</a:t>
            </a:r>
            <a:r>
              <a:rPr lang="en-CA" dirty="0"/>
              <a:t> </a:t>
            </a:r>
            <a:r>
              <a:rPr lang="en-CA" b="1" u="sng" dirty="0"/>
              <a:t>Umbraco</a:t>
            </a:r>
            <a:r>
              <a:rPr lang="en-CA" b="1" dirty="0"/>
              <a:t>.AI Tests Package:</a:t>
            </a:r>
            <a:r>
              <a:rPr lang="en-CA" dirty="0"/>
              <a:t> HQ adds automated prompt/workflow evaluation tracking to the roadmap.</a:t>
            </a:r>
          </a:p>
          <a:p>
            <a:pPr lvl="1"/>
            <a:r>
              <a:rPr lang="en-CA" b="1" dirty="0"/>
              <a:t>May:</a:t>
            </a:r>
            <a:r>
              <a:rPr lang="en-CA" dirty="0"/>
              <a:t> </a:t>
            </a:r>
            <a:r>
              <a:rPr lang="en-CA" b="1" dirty="0"/>
              <a:t>Claude Opus 4.8</a:t>
            </a:r>
            <a:r>
              <a:rPr lang="en-CA" dirty="0"/>
              <a:t> releases, launching "Adaptive Thinking" to drastically cut token waste.</a:t>
            </a:r>
          </a:p>
          <a:p>
            <a:pPr lvl="1"/>
            <a:r>
              <a:rPr lang="en-CA" b="1" dirty="0"/>
              <a:t>June:</a:t>
            </a:r>
            <a:r>
              <a:rPr lang="en-CA" dirty="0"/>
              <a:t> </a:t>
            </a:r>
            <a:r>
              <a:rPr lang="en-CA" b="1" dirty="0"/>
              <a:t>Cursor Design Mode</a:t>
            </a:r>
            <a:r>
              <a:rPr lang="en-CA" dirty="0"/>
              <a:t> launches voice-driven "Vibe Coding" for UI layout automation.</a:t>
            </a:r>
          </a:p>
          <a:p>
            <a:pPr lvl="1"/>
            <a:r>
              <a:rPr lang="en-CA" b="1" dirty="0"/>
              <a:t>June:</a:t>
            </a:r>
            <a:r>
              <a:rPr lang="en-CA" dirty="0"/>
              <a:t> </a:t>
            </a:r>
            <a:r>
              <a:rPr lang="en-CA" b="1" dirty="0"/>
              <a:t>vscode.dev/agents</a:t>
            </a:r>
            <a:r>
              <a:rPr lang="en-CA" dirty="0"/>
              <a:t> ships, pairing Dev Tunnels with multi-agent workflows in-browser</a:t>
            </a:r>
          </a:p>
          <a:p>
            <a:pPr lvl="1"/>
            <a:r>
              <a:rPr lang="en-CA" b="1" dirty="0"/>
              <a:t>June: Mythos + Fabel models shipped</a:t>
            </a:r>
          </a:p>
          <a:p>
            <a:pPr lvl="1"/>
            <a:r>
              <a:rPr lang="en-CA" b="1" dirty="0"/>
              <a:t>June: </a:t>
            </a:r>
            <a:r>
              <a:rPr lang="en-CA" b="1" u="sng" dirty="0"/>
              <a:t>Umbraco</a:t>
            </a:r>
            <a:r>
              <a:rPr lang="en-CA" b="1" dirty="0"/>
              <a:t> announces tons of cool AI stuff @ Code Garden 2026</a:t>
            </a:r>
          </a:p>
        </p:txBody>
      </p:sp>
    </p:spTree>
    <p:extLst>
      <p:ext uri="{BB962C8B-B14F-4D97-AF65-F5344CB8AC3E}">
        <p14:creationId xmlns:p14="http://schemas.microsoft.com/office/powerpoint/2010/main" val="275472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E5B9260-390B-2B55-E712-A9041CD6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260D8305-2951-57CC-9B51-7016CBE21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this talk is and isn’t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A9A834BF-4BD1-8B14-52A2-72508D371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Is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“Umbraco in AI” (MCP)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Agents, skills, scripts, automation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Tools and techniques I like to use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Isn’t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“AI in Umbraco” (Umbraco.AI.* packages)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Umbraco Automate</a:t>
            </a:r>
          </a:p>
        </p:txBody>
      </p:sp>
    </p:spTree>
    <p:extLst>
      <p:ext uri="{BB962C8B-B14F-4D97-AF65-F5344CB8AC3E}">
        <p14:creationId xmlns:p14="http://schemas.microsoft.com/office/powerpoint/2010/main" val="276974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6E631B1-D6D8-91E0-EC2B-105CF5A1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6160E553-C9BC-AFC1-C1A7-584133E5D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Traditional/Vibe workflow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5954BBE4-8009-D5F7-0B29-E7808F927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Start as prose language (good model like Opus)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Iterate and tighten up the language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Try to be more deterministic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Reduce context, move more to skills – Instructions </a:t>
            </a:r>
            <a:r>
              <a:rPr lang="en-US" dirty="0">
                <a:sym typeface="Wingdings" panose="05000000000000000000" pitchFamily="2" charset="2"/>
              </a:rPr>
              <a:t> Agents  Skills  Scripts</a:t>
            </a:r>
            <a:endParaRPr lang="en-US" dirty="0"/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Move to structured syntax and XML – dumber models can follow this easier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Prompt to scripts instead of LLM execution – no context, deterministic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Runs faster, more deterministic, supports cheaper models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Iterate, refine, iterate, refine</a:t>
            </a:r>
          </a:p>
          <a:p>
            <a:pPr marL="285750" indent="-285750"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7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638322"/>
            <a:ext cx="9144000" cy="6420144"/>
          </a:xfrm>
        </p:spPr>
      </p:pic>
      <p:sp>
        <p:nvSpPr>
          <p:cNvPr id="3" name="Google Shape;89;p14">
            <a:extLst>
              <a:ext uri="{FF2B5EF4-FFF2-40B4-BE49-F238E27FC236}">
                <a16:creationId xmlns:a16="http://schemas.microsoft.com/office/drawing/2014/main" id="{FED461CF-8D65-2B0A-B991-6E9C6CAA6BAF}"/>
              </a:ext>
            </a:extLst>
          </p:cNvPr>
          <p:cNvSpPr txBox="1">
            <a:spLocks/>
          </p:cNvSpPr>
          <p:nvPr/>
        </p:nvSpPr>
        <p:spPr>
          <a:xfrm>
            <a:off x="1293006" y="-58368"/>
            <a:ext cx="5408877" cy="114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3500" dirty="0">
                <a:solidFill>
                  <a:schemeClr val="bg1"/>
                </a:solidFill>
              </a:rPr>
              <a:t>New balls on the soup</a:t>
            </a:r>
            <a:endParaRPr lang="en-US" sz="3500" i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i="1" dirty="0">
                <a:solidFill>
                  <a:schemeClr val="bg1"/>
                </a:solidFill>
              </a:rPr>
              <a:t>Nye </a:t>
            </a:r>
            <a:r>
              <a:rPr lang="en-US" i="1" dirty="0" err="1">
                <a:solidFill>
                  <a:schemeClr val="bg1"/>
                </a:solidFill>
              </a:rPr>
              <a:t>boller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på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suppen</a:t>
            </a:r>
            <a:endParaRPr lang="en-US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bg1"/>
                </a:solidFill>
              </a:rPr>
              <a:t>“There’s going to be some changes around here”</a:t>
            </a:r>
          </a:p>
        </p:txBody>
      </p:sp>
    </p:spTree>
    <p:extLst>
      <p:ext uri="{BB962C8B-B14F-4D97-AF65-F5344CB8AC3E}">
        <p14:creationId xmlns:p14="http://schemas.microsoft.com/office/powerpoint/2010/main" val="300405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F996378-DB13-0A20-DAEB-121B4B4C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4E6A30DB-03E4-8C75-2C7C-A433AB5E1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Conductor workflows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F0917634-A51D-10BB-D260-CEBDDC3CC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69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US" i="1" dirty="0"/>
              <a:t>(</a:t>
            </a:r>
            <a:r>
              <a:rPr lang="en-US" i="1" dirty="0" err="1"/>
              <a:t>LangChain</a:t>
            </a:r>
            <a:r>
              <a:rPr lang="en-US" i="1" dirty="0"/>
              <a:t> /</a:t>
            </a:r>
            <a:r>
              <a:rPr lang="en-US" i="1" dirty="0" err="1"/>
              <a:t>LangGraph</a:t>
            </a:r>
            <a:r>
              <a:rPr lang="en-US" i="1" dirty="0"/>
              <a:t> sort-of)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Conductor ships with a skill to create its own workflows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YAML based with input and output params per step (already more structured)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Input and output params can be strongly typed objects, arrays, or single values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Steps can be standalone or inherit context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Steps can have different models or have models dynamically assigned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Steps can be parallelized, repeated, looped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Steps can be prompts, scripts, HITL</a:t>
            </a:r>
          </a:p>
        </p:txBody>
      </p:sp>
    </p:spTree>
    <p:extLst>
      <p:ext uri="{BB962C8B-B14F-4D97-AF65-F5344CB8AC3E}">
        <p14:creationId xmlns:p14="http://schemas.microsoft.com/office/powerpoint/2010/main" val="304596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4B238F1-052E-A9DA-4129-86C6C8A6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56BF340F-C367-3679-1B65-DE139913E7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Conductor workflow (continued)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00347127-A5C4-E674-8098-2F2B45278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055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Step prompts can be file references instead of embedded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Step prompts can be {{ templated }} based on inputs to the step 🤯</a:t>
            </a:r>
          </a:p>
          <a:p>
            <a:pPr marL="114300" indent="0">
              <a:buNone/>
            </a:pPr>
            <a:r>
              <a:rPr lang="en-CA" dirty="0"/>
              <a:t>      {% for a in step1.output.items %}</a:t>
            </a:r>
          </a:p>
          <a:p>
            <a:pPr marL="114300" indent="0">
              <a:buNone/>
            </a:pPr>
            <a:r>
              <a:rPr lang="en-CA" dirty="0"/>
              <a:t>      {{ </a:t>
            </a:r>
            <a:r>
              <a:rPr lang="en-CA" dirty="0" err="1"/>
              <a:t>loop.index</a:t>
            </a:r>
            <a:r>
              <a:rPr lang="en-CA" dirty="0"/>
              <a:t> }}. **{{ </a:t>
            </a:r>
            <a:r>
              <a:rPr lang="en-CA" dirty="0" err="1"/>
              <a:t>a.title</a:t>
            </a:r>
            <a:r>
              <a:rPr lang="en-CA" dirty="0"/>
              <a:t> }}** — {{ </a:t>
            </a:r>
            <a:r>
              <a:rPr lang="en-CA" dirty="0" err="1"/>
              <a:t>a.desc</a:t>
            </a:r>
            <a:r>
              <a:rPr lang="en-CA" dirty="0"/>
              <a:t> }}</a:t>
            </a:r>
          </a:p>
          <a:p>
            <a:pPr marL="114300" indent="0">
              <a:buNone/>
            </a:pPr>
            <a:r>
              <a:rPr lang="en-CA" dirty="0"/>
              <a:t>      {% </a:t>
            </a:r>
            <a:r>
              <a:rPr lang="en-CA" dirty="0" err="1"/>
              <a:t>endfor</a:t>
            </a:r>
            <a:r>
              <a:rPr lang="en-CA" dirty="0"/>
              <a:t> %}</a:t>
            </a:r>
          </a:p>
          <a:p>
            <a:pPr marL="114300" indent="0">
              <a:buNone/>
            </a:pPr>
            <a:endParaRPr lang="en-US" dirty="0"/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Command line execution</a:t>
            </a:r>
          </a:p>
          <a:p>
            <a:pPr lvl="1"/>
            <a:r>
              <a:rPr lang="en-CA" dirty="0"/>
              <a:t>conductor run workflows\conductor-</a:t>
            </a:r>
            <a:r>
              <a:rPr lang="en-CA" dirty="0" err="1"/>
              <a:t>demo.yaml</a:t>
            </a:r>
            <a:r>
              <a:rPr lang="en-CA" dirty="0"/>
              <a:t> --web `</a:t>
            </a:r>
          </a:p>
          <a:p>
            <a:pPr marL="596900" lvl="1" indent="0">
              <a:buNone/>
            </a:pPr>
            <a:r>
              <a:rPr lang="en-CA" dirty="0"/>
              <a:t>         --input topic="Building production-grade AI agents" `</a:t>
            </a:r>
          </a:p>
          <a:p>
            <a:pPr marL="596900" lvl="1" indent="0">
              <a:buNone/>
            </a:pPr>
            <a:r>
              <a:rPr lang="en-CA" dirty="0"/>
              <a:t>         --input audience="Umbraco developers at </a:t>
            </a:r>
            <a:r>
              <a:rPr lang="en-CA" dirty="0" err="1"/>
              <a:t>Codegarden</a:t>
            </a:r>
            <a:r>
              <a:rPr lang="en-CA" dirty="0"/>
              <a:t> 2026“</a:t>
            </a:r>
          </a:p>
          <a:p>
            <a:pPr lvl="1"/>
            <a:r>
              <a:rPr lang="en-US" dirty="0"/>
              <a:t>conductor show/resume/replay/stop/checkpoints/validate (more…)</a:t>
            </a:r>
          </a:p>
        </p:txBody>
      </p:sp>
    </p:spTree>
    <p:extLst>
      <p:ext uri="{BB962C8B-B14F-4D97-AF65-F5344CB8AC3E}">
        <p14:creationId xmlns:p14="http://schemas.microsoft.com/office/powerpoint/2010/main" val="79717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1992A15-F4C4-9842-61B1-D7AA1847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BA1DB94A-43F3-E537-4C88-5365F4BB2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Conductor workflow (continued)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7174214D-B96C-69B6-6F88-424B731C3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69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Optionally can include or exclude AGENTS.md or other instruction files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Supports both Copilot and Claude runtime providers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Conductor workflows can be agent skills but not vise-versa 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Source control friendly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More deterministic results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OSS: </a:t>
            </a:r>
            <a:r>
              <a:rPr lang="en-US" i="1" dirty="0"/>
              <a:t>https://www.github.com/microsoft/conductor</a:t>
            </a:r>
          </a:p>
        </p:txBody>
      </p:sp>
    </p:spTree>
    <p:extLst>
      <p:ext uri="{BB962C8B-B14F-4D97-AF65-F5344CB8AC3E}">
        <p14:creationId xmlns:p14="http://schemas.microsoft.com/office/powerpoint/2010/main" val="380612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952500"/>
            <a:ext cx="9144000" cy="6096000"/>
          </a:xfrm>
        </p:spPr>
      </p:pic>
      <p:sp>
        <p:nvSpPr>
          <p:cNvPr id="4" name="Google Shape;89;p14">
            <a:extLst>
              <a:ext uri="{FF2B5EF4-FFF2-40B4-BE49-F238E27FC236}">
                <a16:creationId xmlns:a16="http://schemas.microsoft.com/office/drawing/2014/main" id="{5372B28D-087A-7A0D-4562-272BBFB7A7DB}"/>
              </a:ext>
            </a:extLst>
          </p:cNvPr>
          <p:cNvSpPr txBox="1">
            <a:spLocks/>
          </p:cNvSpPr>
          <p:nvPr/>
        </p:nvSpPr>
        <p:spPr>
          <a:xfrm>
            <a:off x="1293006" y="-58368"/>
            <a:ext cx="5408877" cy="17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3600" dirty="0">
                <a:solidFill>
                  <a:schemeClr val="accent3"/>
                </a:solidFill>
              </a:rPr>
              <a:t>There is no cow on the ice</a:t>
            </a:r>
            <a:endParaRPr lang="en-US" sz="3500" i="1" dirty="0">
              <a:solidFill>
                <a:schemeClr val="accent3"/>
              </a:solidFill>
            </a:endParaRPr>
          </a:p>
          <a:p>
            <a:pPr marL="114300" indent="0">
              <a:buNone/>
            </a:pPr>
            <a:r>
              <a:rPr lang="en-US" i="1" dirty="0">
                <a:solidFill>
                  <a:schemeClr val="accent3"/>
                </a:solidFill>
              </a:rPr>
              <a:t>Ingen ko </a:t>
            </a:r>
            <a:r>
              <a:rPr lang="en-US" i="1" dirty="0" err="1">
                <a:solidFill>
                  <a:schemeClr val="accent3"/>
                </a:solidFill>
              </a:rPr>
              <a:t>på</a:t>
            </a:r>
            <a:r>
              <a:rPr lang="en-US" i="1" dirty="0">
                <a:solidFill>
                  <a:schemeClr val="accent3"/>
                </a:solidFill>
              </a:rPr>
              <a:t> </a:t>
            </a:r>
            <a:r>
              <a:rPr lang="en-US" i="1" dirty="0" err="1">
                <a:solidFill>
                  <a:schemeClr val="accent3"/>
                </a:solidFill>
              </a:rPr>
              <a:t>isen</a:t>
            </a:r>
            <a:endParaRPr lang="en-US" dirty="0">
              <a:solidFill>
                <a:schemeClr val="accent3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accent3"/>
                </a:solidFill>
              </a:rPr>
              <a:t>“Everything is just fine”</a:t>
            </a:r>
          </a:p>
        </p:txBody>
      </p:sp>
    </p:spTree>
    <p:extLst>
      <p:ext uri="{BB962C8B-B14F-4D97-AF65-F5344CB8AC3E}">
        <p14:creationId xmlns:p14="http://schemas.microsoft.com/office/powerpoint/2010/main" val="199066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06DBDBF-51CE-42B1-21B6-A10A0252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E2E71615-9B0C-5A74-EEFD-4B0F9E0A5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Building </a:t>
            </a:r>
            <a:r>
              <a:rPr lang="en-US" dirty="0" err="1"/>
              <a:t>umbraco-demo.yml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E05DAF98-5DC1-41A5-F754-E20CE656D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Not smart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A few guidelines + Git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 err="1"/>
              <a:t>uSync</a:t>
            </a:r>
            <a:endParaRPr lang="en-US" dirty="0"/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No Umbraco specific skills, just meta data from MCP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Ability to reset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umb</a:t>
            </a:r>
            <a:r>
              <a:rPr lang="en-US" dirty="0">
                <a:sym typeface="Wingdings" panose="05000000000000000000" pitchFamily="2" charset="2"/>
              </a:rPr>
              <a:t>-reset skill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0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4ED61C5-89DB-69DA-4E4E-8EA0113F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6A584EE1-623F-675C-D312-BB1A580B5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Refining </a:t>
            </a:r>
            <a:r>
              <a:rPr lang="en-US" dirty="0" err="1"/>
              <a:t>umbraco-demo.yml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179C7A02-44FD-FB98-C94B-194419758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Prompt: “I ran the workflow again, can you re-check to see what the bottlenecks are and see if you can speed it up?”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Read conductor logs, find bottlenecks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Read blog posts, understand where the agent struggled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Refine skills, re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Cheaper/faster models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Loop, iterate, loop</a:t>
            </a:r>
          </a:p>
        </p:txBody>
      </p:sp>
    </p:spTree>
    <p:extLst>
      <p:ext uri="{BB962C8B-B14F-4D97-AF65-F5344CB8AC3E}">
        <p14:creationId xmlns:p14="http://schemas.microsoft.com/office/powerpoint/2010/main" val="3137550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A7CC-3953-DCBE-3AC0-B2BE1E2D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FFC8-CABF-39F9-853A-C9D474A8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1796A7-55A4-5D23-4B3B-812D63CA9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-225052"/>
            <a:ext cx="9144000" cy="5593603"/>
          </a:xfrm>
        </p:spPr>
      </p:pic>
      <p:sp>
        <p:nvSpPr>
          <p:cNvPr id="4" name="Google Shape;89;p14">
            <a:extLst>
              <a:ext uri="{FF2B5EF4-FFF2-40B4-BE49-F238E27FC236}">
                <a16:creationId xmlns:a16="http://schemas.microsoft.com/office/drawing/2014/main" id="{DFAB2E12-A526-672F-E7F8-CF11B25CA0E9}"/>
              </a:ext>
            </a:extLst>
          </p:cNvPr>
          <p:cNvSpPr txBox="1">
            <a:spLocks/>
          </p:cNvSpPr>
          <p:nvPr/>
        </p:nvSpPr>
        <p:spPr>
          <a:xfrm>
            <a:off x="311699" y="3378819"/>
            <a:ext cx="8520599" cy="161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A burnt child is afraid of fire</a:t>
            </a:r>
          </a:p>
          <a:p>
            <a:pPr marL="114300" indent="0">
              <a:buNone/>
            </a:pPr>
            <a:r>
              <a:rPr lang="en-US" i="1" dirty="0" err="1">
                <a:solidFill>
                  <a:schemeClr val="bg1"/>
                </a:solidFill>
              </a:rPr>
              <a:t>Brændt</a:t>
            </a:r>
            <a:r>
              <a:rPr lang="en-US" i="1" dirty="0">
                <a:solidFill>
                  <a:schemeClr val="bg1"/>
                </a:solidFill>
              </a:rPr>
              <a:t> barn skyr </a:t>
            </a:r>
            <a:r>
              <a:rPr lang="en-US" i="1" dirty="0" err="1">
                <a:solidFill>
                  <a:schemeClr val="bg1"/>
                </a:solidFill>
              </a:rPr>
              <a:t>ilden</a:t>
            </a:r>
            <a:endParaRPr lang="en-US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bg1"/>
                </a:solidFill>
              </a:rPr>
              <a:t>“Lesson learned the hard way”</a:t>
            </a:r>
          </a:p>
        </p:txBody>
      </p:sp>
    </p:spTree>
    <p:extLst>
      <p:ext uri="{BB962C8B-B14F-4D97-AF65-F5344CB8AC3E}">
        <p14:creationId xmlns:p14="http://schemas.microsoft.com/office/powerpoint/2010/main" val="3360461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9DDD970-43B1-9E88-AB38-FFDD7F5F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BAB830C4-BAA7-4E10-D2B3-AE1577377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 agents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9274A607-AC8D-88FA-5046-E40D71A14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Controlled from your phone/app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Automate while you’re on the go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(I did this while making this demo)</a:t>
            </a:r>
          </a:p>
        </p:txBody>
      </p:sp>
    </p:spTree>
    <p:extLst>
      <p:ext uri="{BB962C8B-B14F-4D97-AF65-F5344CB8AC3E}">
        <p14:creationId xmlns:p14="http://schemas.microsoft.com/office/powerpoint/2010/main" val="4262822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CEE2B8E-01E3-E2C1-34A1-53EDBC6F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>
            <a:extLst>
              <a:ext uri="{FF2B5EF4-FFF2-40B4-BE49-F238E27FC236}">
                <a16:creationId xmlns:a16="http://schemas.microsoft.com/office/drawing/2014/main" id="{5AD97DCE-BA38-518B-E4ED-1F52FD645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 agentic workflows</a:t>
            </a:r>
            <a:endParaRPr dirty="0"/>
          </a:p>
        </p:txBody>
      </p:sp>
      <p:sp>
        <p:nvSpPr>
          <p:cNvPr id="89" name="Google Shape;89;p14">
            <a:extLst>
              <a:ext uri="{FF2B5EF4-FFF2-40B4-BE49-F238E27FC236}">
                <a16:creationId xmlns:a16="http://schemas.microsoft.com/office/drawing/2014/main" id="{82700BFC-A145-A902-1277-DF7660F84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>
                <a:hlinkClick r:id="rId3"/>
              </a:rPr>
              <a:t>https://githubnext.com/</a:t>
            </a:r>
            <a:endParaRPr lang="en-US" dirty="0"/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Daily performance improver 🔥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Daily efficiency improver 🌳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… tons more</a:t>
            </a:r>
          </a:p>
        </p:txBody>
      </p:sp>
    </p:spTree>
    <p:extLst>
      <p:ext uri="{BB962C8B-B14F-4D97-AF65-F5344CB8AC3E}">
        <p14:creationId xmlns:p14="http://schemas.microsoft.com/office/powerpoint/2010/main" val="1787787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1F50-E08C-FDB1-2A14-17BA54CF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 Reviews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9BEEE-B234-C296-BD78-86C4E265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#1 new problem in engineering = too many PRs</a:t>
            </a:r>
          </a:p>
          <a:p>
            <a:r>
              <a:rPr lang="en-CA" dirty="0">
                <a:sym typeface="Wingdings" panose="05000000000000000000" pitchFamily="2" charset="2"/>
              </a:rPr>
              <a:t>My OSS setup = </a:t>
            </a:r>
            <a:r>
              <a:rPr lang="en-CA" dirty="0" err="1">
                <a:sym typeface="Wingdings" panose="05000000000000000000" pitchFamily="2" charset="2"/>
              </a:rPr>
              <a:t>Greptile</a:t>
            </a:r>
            <a:r>
              <a:rPr lang="en-CA" dirty="0">
                <a:sym typeface="Wingdings" panose="05000000000000000000" pitchFamily="2" charset="2"/>
              </a:rPr>
              <a:t> + </a:t>
            </a:r>
            <a:r>
              <a:rPr lang="en-CA" dirty="0" err="1">
                <a:sym typeface="Wingdings" panose="05000000000000000000" pitchFamily="2" charset="2"/>
              </a:rPr>
              <a:t>Github</a:t>
            </a:r>
            <a:r>
              <a:rPr lang="en-CA" dirty="0">
                <a:sym typeface="Wingdings" panose="05000000000000000000" pitchFamily="2" charset="2"/>
              </a:rPr>
              <a:t> copilot  Human  Repeat</a:t>
            </a:r>
          </a:p>
          <a:p>
            <a:r>
              <a:rPr lang="en-CA" dirty="0">
                <a:sym typeface="Wingdings" panose="05000000000000000000" pitchFamily="2" charset="2"/>
              </a:rPr>
              <a:t>My Corp setup = Conductor reviewer + Conductor repairer  Human  Repeat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06869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C5FF-9597-6885-0B22-74F5F33B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debate design up-front?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A20DA-6DAD-E360-7099-6BF1C0E37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spending weeks debating theoretical approaches, have agents prototype all of the options</a:t>
            </a:r>
          </a:p>
          <a:p>
            <a:r>
              <a:rPr lang="en-US" dirty="0"/>
              <a:t>Learn by doing, not by speculating</a:t>
            </a:r>
          </a:p>
          <a:p>
            <a:r>
              <a:rPr lang="en-US" dirty="0"/>
              <a:t>Code generated by agents is disposable, if it doesn’t work, throw it away</a:t>
            </a:r>
          </a:p>
          <a:p>
            <a:r>
              <a:rPr lang="en-US" dirty="0"/>
              <a:t>The cost of exploration is (still) far cheaper than FTEs</a:t>
            </a:r>
          </a:p>
          <a:p>
            <a:r>
              <a:rPr lang="en-US" dirty="0"/>
              <a:t>Design captures reality, not theory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69456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225052"/>
            <a:ext cx="9144000" cy="5593603"/>
          </a:xfrm>
        </p:spPr>
      </p:pic>
      <p:sp>
        <p:nvSpPr>
          <p:cNvPr id="4" name="Google Shape;89;p14">
            <a:extLst>
              <a:ext uri="{FF2B5EF4-FFF2-40B4-BE49-F238E27FC236}">
                <a16:creationId xmlns:a16="http://schemas.microsoft.com/office/drawing/2014/main" id="{28EC414E-83D4-8A6F-C054-16415C1B589A}"/>
              </a:ext>
            </a:extLst>
          </p:cNvPr>
          <p:cNvSpPr txBox="1">
            <a:spLocks/>
          </p:cNvSpPr>
          <p:nvPr/>
        </p:nvSpPr>
        <p:spPr>
          <a:xfrm>
            <a:off x="311699" y="3378819"/>
            <a:ext cx="8520599" cy="161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The raisin at the end of the sausage</a:t>
            </a:r>
          </a:p>
          <a:p>
            <a:pPr marL="114300" indent="0">
              <a:buNone/>
            </a:pPr>
            <a:r>
              <a:rPr lang="en-US" i="1" dirty="0" err="1">
                <a:solidFill>
                  <a:schemeClr val="bg1"/>
                </a:solidFill>
              </a:rPr>
              <a:t>Rosinen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i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pølseenden</a:t>
            </a:r>
            <a:endParaRPr lang="en-US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bg1"/>
                </a:solidFill>
              </a:rPr>
              <a:t>“Save the best for last, or the highlight of something”</a:t>
            </a:r>
          </a:p>
        </p:txBody>
      </p:sp>
    </p:spTree>
    <p:extLst>
      <p:ext uri="{BB962C8B-B14F-4D97-AF65-F5344CB8AC3E}">
        <p14:creationId xmlns:p14="http://schemas.microsoft.com/office/powerpoint/2010/main" val="1433378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16DBF28-55E1-A7C9-EDDD-1EE94033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30128B-1A9E-7695-647B-CC5F37ED0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595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18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A0E94CF-E2EE-38CC-E133-F3A98FF9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0185A-4F06-84F6-9704-484A9B11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873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70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0157E77-25D1-DEC0-DAC6-9D6F900B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32FBA6-027D-7A1D-FBB6-9D39CF335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6637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80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E112675-C18B-71E0-5873-631EA180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0FA669-2B09-A415-FC78-CA153B09E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1821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71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741E114-C510-86F8-1457-2DB2D51E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4152FE-D916-56B0-DCC4-F8800C59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993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4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B7FF67D-CD48-4467-099C-E5B83584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2625C-651E-1066-6A2C-D4BA09F9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282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64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1AD5-75D8-183F-DB5A-6F37E857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differences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5C1D9-0679-6761-0E39-20AC0754F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27773"/>
            <a:ext cx="8520600" cy="3416400"/>
          </a:xfrm>
        </p:spPr>
        <p:txBody>
          <a:bodyPr/>
          <a:lstStyle/>
          <a:p>
            <a:r>
              <a:rPr lang="en-US" dirty="0"/>
              <a:t>Gemini 3.1 Pro – very bad, not creative whatsoever, kept thinking it was </a:t>
            </a:r>
            <a:r>
              <a:rPr lang="en-US" dirty="0" err="1"/>
              <a:t>umbraco</a:t>
            </a:r>
            <a:r>
              <a:rPr lang="en-US" dirty="0"/>
              <a:t> 14 </a:t>
            </a:r>
          </a:p>
          <a:p>
            <a:r>
              <a:rPr lang="en-US" dirty="0"/>
              <a:t>Gemini 3.5 Flash – starts ok, gets super slow losing track, couldn't get images to work</a:t>
            </a:r>
          </a:p>
          <a:p>
            <a:r>
              <a:rPr lang="en-US" dirty="0"/>
              <a:t>Haiku – not terrible, fast, skips anything if it has to think</a:t>
            </a:r>
          </a:p>
          <a:p>
            <a:r>
              <a:rPr lang="en-US" dirty="0"/>
              <a:t>Sonnet 4.6 – good, fast, consistently neon design</a:t>
            </a:r>
          </a:p>
          <a:p>
            <a:r>
              <a:rPr lang="en-US" dirty="0"/>
              <a:t>Sonnet 4.5 – good, fast, consistently bright design</a:t>
            </a:r>
          </a:p>
          <a:p>
            <a:r>
              <a:rPr lang="en-US" dirty="0"/>
              <a:t>Opus 4.7 – good, fast, consistently Aurora</a:t>
            </a:r>
          </a:p>
          <a:p>
            <a:r>
              <a:rPr lang="en-US" dirty="0"/>
              <a:t>Opus 4.8 – good, slower, much more thorough, typically clean design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8227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0B5FC5F-0709-A7F4-E616-6F489508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69771-B87B-8D7F-3CA0-E1F843BFB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226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29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C9B7C15-9AD7-D959-691A-FD212ED6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62E079-8BA0-A889-8566-DA296D4D7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9338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B2187-CD60-7322-B7B7-DD14EE33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79" y="0"/>
            <a:ext cx="3189259" cy="146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5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6E562AD7-8E4E-87E1-D2FF-CD1BCF49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793EFB38-BA45-FEA7-A2A4-D77386469F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257950"/>
            <a:ext cx="8520600" cy="8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52" name="Google Shape;152;p23">
            <a:extLst>
              <a:ext uri="{FF2B5EF4-FFF2-40B4-BE49-F238E27FC236}">
                <a16:creationId xmlns:a16="http://schemas.microsoft.com/office/drawing/2014/main" id="{8824ABFC-89D0-E0BA-B489-24E1C746FF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4146558"/>
            <a:ext cx="8520600" cy="5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Shannon Thompson Deminick – shazwazza.com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6468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83A97"/>
      </a:dk1>
      <a:lt1>
        <a:srgbClr val="FFF0EA"/>
      </a:lt1>
      <a:dk2>
        <a:srgbClr val="283A97"/>
      </a:dk2>
      <a:lt2>
        <a:srgbClr val="F5C1BC"/>
      </a:lt2>
      <a:accent1>
        <a:srgbClr val="1B264F"/>
      </a:accent1>
      <a:accent2>
        <a:srgbClr val="F3F3F3"/>
      </a:accent2>
      <a:accent3>
        <a:srgbClr val="FFFFFF"/>
      </a:accent3>
      <a:accent4>
        <a:srgbClr val="000000"/>
      </a:accent4>
      <a:accent5>
        <a:srgbClr val="FFF0EA"/>
      </a:accent5>
      <a:accent6>
        <a:srgbClr val="F5C1BC"/>
      </a:accent6>
      <a:hlink>
        <a:srgbClr val="283A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1385</Words>
  <Application>Microsoft Office PowerPoint</Application>
  <PresentationFormat>On-screen Show (16:9)</PresentationFormat>
  <Paragraphs>145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Lato</vt:lpstr>
      <vt:lpstr>Helvetica Neue</vt:lpstr>
      <vt:lpstr>Wingdings</vt:lpstr>
      <vt:lpstr>Arial</vt:lpstr>
      <vt:lpstr>Simple Light</vt:lpstr>
      <vt:lpstr>Automate All the Things </vt:lpstr>
      <vt:lpstr>PowerPoint Presentation</vt:lpstr>
      <vt:lpstr>PowerPoint Presentation</vt:lpstr>
      <vt:lpstr>What this talk was</vt:lpstr>
      <vt:lpstr>Timeline since Chicago</vt:lpstr>
      <vt:lpstr>Timeline since Chicago</vt:lpstr>
      <vt:lpstr>Timeline since Chicago</vt:lpstr>
      <vt:lpstr>What this talk is and isn’t</vt:lpstr>
      <vt:lpstr>Traditional/Vibe workflow</vt:lpstr>
      <vt:lpstr>PowerPoint Presentation</vt:lpstr>
      <vt:lpstr>Conductor workflows</vt:lpstr>
      <vt:lpstr>Conductor workflow (continued)</vt:lpstr>
      <vt:lpstr>Conductor workflow (continued)</vt:lpstr>
      <vt:lpstr>PowerPoint Presentation</vt:lpstr>
      <vt:lpstr>Building umbraco-demo.yml</vt:lpstr>
      <vt:lpstr>Refining umbraco-demo.yml</vt:lpstr>
      <vt:lpstr>PowerPoint Presentation</vt:lpstr>
      <vt:lpstr>GitHub agents</vt:lpstr>
      <vt:lpstr>GitHub agentic workflows</vt:lpstr>
      <vt:lpstr>PR Reviews</vt:lpstr>
      <vt:lpstr>Why debate design up-front?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differences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Shannon Deminick</cp:lastModifiedBy>
  <cp:revision>65</cp:revision>
  <dcterms:modified xsi:type="dcterms:W3CDTF">2026-08-12T16:18:02Z</dcterms:modified>
</cp:coreProperties>
</file>